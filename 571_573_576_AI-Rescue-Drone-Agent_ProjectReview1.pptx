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PT Serif"/>
      <p:regular r:id="rId18"/>
    </p:embeddedFont>
    <p:embeddedFont>
      <p:font typeface="PT Serif"/>
      <p:regular r:id="rId19"/>
    </p:embeddedFont>
    <p:embeddedFont>
      <p:font typeface="PT Serif"/>
      <p:regular r:id="rId20"/>
    </p:embeddedFont>
    <p:embeddedFont>
      <p:font typeface="PT Serif"/>
      <p:regular r:id="rId21"/>
    </p:embeddedFont>
    <p:embeddedFont>
      <p:font typeface="DM Sans"/>
      <p:regular r:id="rId22"/>
    </p:embeddedFont>
    <p:embeddedFont>
      <p:font typeface="DM Sans"/>
      <p:regular r:id="rId23"/>
    </p:embeddedFont>
    <p:embeddedFont>
      <p:font typeface="DM Sans"/>
      <p:regular r:id="rId24"/>
    </p:embeddedFont>
    <p:embeddedFont>
      <p:font typeface="DM Sans"/>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svg"/><Relationship Id="rId12" Type="http://schemas.openxmlformats.org/officeDocument/2006/relationships/image" Target="../media/image-5-12.png"/><Relationship Id="rId13" Type="http://schemas.openxmlformats.org/officeDocument/2006/relationships/image" Target="../media/image-5-13.svg"/><Relationship Id="rId14" Type="http://schemas.openxmlformats.org/officeDocument/2006/relationships/image" Target="../media/image-5-14.png"/><Relationship Id="rId15" Type="http://schemas.openxmlformats.org/officeDocument/2006/relationships/image" Target="../media/image-5-15.svg"/><Relationship Id="rId16" Type="http://schemas.openxmlformats.org/officeDocument/2006/relationships/slideLayout" Target="../slideLayouts/slideLayout6.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9.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41627"/>
            <a:ext cx="6087070"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AI Rescue Drone Agent</a:t>
            </a:r>
            <a:endParaRPr lang="en-US" sz="4650" dirty="0"/>
          </a:p>
        </p:txBody>
      </p:sp>
      <p:sp>
        <p:nvSpPr>
          <p:cNvPr id="4" name="Text 1"/>
          <p:cNvSpPr/>
          <p:nvPr/>
        </p:nvSpPr>
        <p:spPr>
          <a:xfrm>
            <a:off x="793790" y="3376613"/>
            <a:ext cx="6605707" cy="372070"/>
          </a:xfrm>
          <a:prstGeom prst="rect">
            <a:avLst/>
          </a:prstGeom>
          <a:noFill/>
          <a:ln/>
        </p:spPr>
        <p:txBody>
          <a:bodyPr wrap="none" lIns="0" tIns="0" rIns="0" bIns="0" rtlCol="0" anchor="t"/>
          <a:lstStyle/>
          <a:p>
            <a:pPr algn="l" indent="0" marL="0">
              <a:lnSpc>
                <a:spcPts val="2900"/>
              </a:lnSpc>
              <a:buNone/>
            </a:pPr>
            <a:r>
              <a:rPr lang="en-US" sz="2300" dirty="0">
                <a:solidFill>
                  <a:srgbClr val="020202"/>
                </a:solidFill>
                <a:latin typeface="PT Serif" pitchFamily="34" charset="0"/>
                <a:ea typeface="PT Serif" pitchFamily="34" charset="-122"/>
                <a:cs typeface="PT Serif" pitchFamily="34" charset="-120"/>
              </a:rPr>
              <a:t>21CSC206T - Artificial Intelligence Project Review</a:t>
            </a:r>
            <a:endParaRPr lang="en-US" sz="2300" dirty="0"/>
          </a:p>
        </p:txBody>
      </p:sp>
      <p:sp>
        <p:nvSpPr>
          <p:cNvPr id="5" name="Text 2"/>
          <p:cNvSpPr/>
          <p:nvPr/>
        </p:nvSpPr>
        <p:spPr>
          <a:xfrm>
            <a:off x="793790" y="4088844"/>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Bhoomika Poddar | RA2411026010571</a:t>
            </a:r>
            <a:endParaRPr lang="en-US" sz="1750" dirty="0"/>
          </a:p>
        </p:txBody>
      </p:sp>
      <p:sp>
        <p:nvSpPr>
          <p:cNvPr id="6" name="Text 3"/>
          <p:cNvSpPr/>
          <p:nvPr/>
        </p:nvSpPr>
        <p:spPr>
          <a:xfrm>
            <a:off x="793790" y="4706898"/>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Farzan Alam | RA2411026010573</a:t>
            </a:r>
            <a:endParaRPr lang="en-US" sz="1750" dirty="0"/>
          </a:p>
        </p:txBody>
      </p:sp>
      <p:sp>
        <p:nvSpPr>
          <p:cNvPr id="7" name="Text 4"/>
          <p:cNvSpPr/>
          <p:nvPr/>
        </p:nvSpPr>
        <p:spPr>
          <a:xfrm>
            <a:off x="793790" y="5324951"/>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Akshit Gaurana | RA2411026010576</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26162"/>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Introduction</a:t>
            </a:r>
            <a:endParaRPr lang="en-US" sz="4650" dirty="0"/>
          </a:p>
        </p:txBody>
      </p:sp>
      <p:pic>
        <p:nvPicPr>
          <p:cNvPr id="3" name="Image 0" descr="preencoded.png">    </p:cNvPr>
          <p:cNvPicPr>
            <a:picLocks noChangeAspect="1"/>
          </p:cNvPicPr>
          <p:nvPr/>
        </p:nvPicPr>
        <p:blipFill>
          <a:blip r:embed="rId1"/>
          <a:stretch>
            <a:fillRect/>
          </a:stretch>
        </p:blipFill>
        <p:spPr>
          <a:xfrm>
            <a:off x="793790" y="2345174"/>
            <a:ext cx="8284131" cy="4623673"/>
          </a:xfrm>
          <a:prstGeom prst="rect">
            <a:avLst/>
          </a:prstGeom>
        </p:spPr>
      </p:pic>
      <p:sp>
        <p:nvSpPr>
          <p:cNvPr id="4" name="Text 1"/>
          <p:cNvSpPr/>
          <p:nvPr/>
        </p:nvSpPr>
        <p:spPr>
          <a:xfrm>
            <a:off x="9638943" y="2014657"/>
            <a:ext cx="4205168" cy="326612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An autonomous AI-powered drone system designed to revolutionize disaster rescue operations. This intelligent agent utilizes advanced search algorithms and sensor technology to efficiently locate victims in hazardous environments where human responders face significant risks.</a:t>
            </a:r>
            <a:endParaRPr lang="en-US" sz="1750" dirty="0"/>
          </a:p>
        </p:txBody>
      </p:sp>
      <p:sp>
        <p:nvSpPr>
          <p:cNvPr id="5" name="Text 2"/>
          <p:cNvSpPr/>
          <p:nvPr/>
        </p:nvSpPr>
        <p:spPr>
          <a:xfrm>
            <a:off x="9638943" y="5484852"/>
            <a:ext cx="4205168"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The system combines pathfinding algorithms with real-time environmental awareness to navigate complex disaster zones, identify survivors, and optimize rescue routes.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90995"/>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Problem Statement</a:t>
            </a:r>
            <a:endParaRPr lang="en-US" sz="4650" dirty="0"/>
          </a:p>
        </p:txBody>
      </p:sp>
      <p:sp>
        <p:nvSpPr>
          <p:cNvPr id="3" name="Shape 1"/>
          <p:cNvSpPr/>
          <p:nvPr/>
        </p:nvSpPr>
        <p:spPr>
          <a:xfrm>
            <a:off x="793790" y="2488883"/>
            <a:ext cx="6407944" cy="2111454"/>
          </a:xfrm>
          <a:prstGeom prst="roundRect">
            <a:avLst>
              <a:gd name="adj" fmla="val 6929"/>
            </a:avLst>
          </a:prstGeom>
          <a:solidFill>
            <a:srgbClr val="FFFFFF"/>
          </a:solidFill>
          <a:ln w="30480">
            <a:solidFill>
              <a:srgbClr val="E04F00"/>
            </a:solidFill>
            <a:prstDash val="solid"/>
          </a:ln>
        </p:spPr>
      </p:sp>
      <p:sp>
        <p:nvSpPr>
          <p:cNvPr id="4" name="Shape 2"/>
          <p:cNvSpPr/>
          <p:nvPr/>
        </p:nvSpPr>
        <p:spPr>
          <a:xfrm>
            <a:off x="763310" y="2488883"/>
            <a:ext cx="121920" cy="2111454"/>
          </a:xfrm>
          <a:prstGeom prst="roundRect">
            <a:avLst>
              <a:gd name="adj" fmla="val 27907"/>
            </a:avLst>
          </a:prstGeom>
          <a:solidFill>
            <a:srgbClr val="E04F00"/>
          </a:solidFill>
          <a:ln/>
        </p:spPr>
      </p:sp>
      <p:sp>
        <p:nvSpPr>
          <p:cNvPr id="5" name="Text 3"/>
          <p:cNvSpPr/>
          <p:nvPr/>
        </p:nvSpPr>
        <p:spPr>
          <a:xfrm>
            <a:off x="1142524" y="2746177"/>
            <a:ext cx="3103364"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Time-Critical Response</a:t>
            </a:r>
            <a:endParaRPr lang="en-US" sz="2300" dirty="0"/>
          </a:p>
        </p:txBody>
      </p:sp>
      <p:sp>
        <p:nvSpPr>
          <p:cNvPr id="6" name="Text 4"/>
          <p:cNvSpPr/>
          <p:nvPr/>
        </p:nvSpPr>
        <p:spPr>
          <a:xfrm>
            <a:off x="1142524" y="3254335"/>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Disaster zones require immediate victim location, but manual searches are slow and inefficient in large affected areas.</a:t>
            </a:r>
            <a:endParaRPr lang="en-US" sz="1750" dirty="0"/>
          </a:p>
        </p:txBody>
      </p:sp>
      <p:sp>
        <p:nvSpPr>
          <p:cNvPr id="7" name="Shape 5"/>
          <p:cNvSpPr/>
          <p:nvPr/>
        </p:nvSpPr>
        <p:spPr>
          <a:xfrm>
            <a:off x="7428548" y="2488883"/>
            <a:ext cx="6408063" cy="2111454"/>
          </a:xfrm>
          <a:prstGeom prst="roundRect">
            <a:avLst>
              <a:gd name="adj" fmla="val 6929"/>
            </a:avLst>
          </a:prstGeom>
          <a:solidFill>
            <a:srgbClr val="FFFFFF"/>
          </a:solidFill>
          <a:ln w="30480">
            <a:solidFill>
              <a:srgbClr val="E04F00"/>
            </a:solidFill>
            <a:prstDash val="solid"/>
          </a:ln>
        </p:spPr>
      </p:sp>
      <p:sp>
        <p:nvSpPr>
          <p:cNvPr id="8" name="Shape 6"/>
          <p:cNvSpPr/>
          <p:nvPr/>
        </p:nvSpPr>
        <p:spPr>
          <a:xfrm>
            <a:off x="7398067" y="2488883"/>
            <a:ext cx="121920" cy="2111454"/>
          </a:xfrm>
          <a:prstGeom prst="roundRect">
            <a:avLst>
              <a:gd name="adj" fmla="val 27907"/>
            </a:avLst>
          </a:prstGeom>
          <a:solidFill>
            <a:srgbClr val="E04F00"/>
          </a:solidFill>
          <a:ln/>
        </p:spPr>
      </p:sp>
      <p:sp>
        <p:nvSpPr>
          <p:cNvPr id="9" name="Text 7"/>
          <p:cNvSpPr/>
          <p:nvPr/>
        </p:nvSpPr>
        <p:spPr>
          <a:xfrm>
            <a:off x="7777282" y="2746177"/>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Human Safety Risk</a:t>
            </a:r>
            <a:endParaRPr lang="en-US" sz="2300" dirty="0"/>
          </a:p>
        </p:txBody>
      </p:sp>
      <p:sp>
        <p:nvSpPr>
          <p:cNvPr id="10" name="Text 8"/>
          <p:cNvSpPr/>
          <p:nvPr/>
        </p:nvSpPr>
        <p:spPr>
          <a:xfrm>
            <a:off x="7777282" y="3254335"/>
            <a:ext cx="5802035"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Rescue personnel face life-threatening dangers from structural collapse, hazardous materials, and unstable terrain during search operations.</a:t>
            </a:r>
            <a:endParaRPr lang="en-US" sz="1750" dirty="0"/>
          </a:p>
        </p:txBody>
      </p:sp>
      <p:sp>
        <p:nvSpPr>
          <p:cNvPr id="11" name="Shape 9"/>
          <p:cNvSpPr/>
          <p:nvPr/>
        </p:nvSpPr>
        <p:spPr>
          <a:xfrm>
            <a:off x="793790" y="4827151"/>
            <a:ext cx="6407944" cy="2111454"/>
          </a:xfrm>
          <a:prstGeom prst="roundRect">
            <a:avLst>
              <a:gd name="adj" fmla="val 6929"/>
            </a:avLst>
          </a:prstGeom>
          <a:solidFill>
            <a:srgbClr val="FFFFFF"/>
          </a:solidFill>
          <a:ln w="30480">
            <a:solidFill>
              <a:srgbClr val="E04F00"/>
            </a:solidFill>
            <a:prstDash val="solid"/>
          </a:ln>
        </p:spPr>
      </p:sp>
      <p:sp>
        <p:nvSpPr>
          <p:cNvPr id="12" name="Shape 10"/>
          <p:cNvSpPr/>
          <p:nvPr/>
        </p:nvSpPr>
        <p:spPr>
          <a:xfrm>
            <a:off x="763310" y="4827151"/>
            <a:ext cx="121920" cy="2111454"/>
          </a:xfrm>
          <a:prstGeom prst="roundRect">
            <a:avLst>
              <a:gd name="adj" fmla="val 27907"/>
            </a:avLst>
          </a:prstGeom>
          <a:solidFill>
            <a:srgbClr val="E04F00"/>
          </a:solidFill>
          <a:ln/>
        </p:spPr>
      </p:sp>
      <p:sp>
        <p:nvSpPr>
          <p:cNvPr id="13" name="Text 11"/>
          <p:cNvSpPr/>
          <p:nvPr/>
        </p:nvSpPr>
        <p:spPr>
          <a:xfrm>
            <a:off x="1142524" y="508444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Complex Navigation</a:t>
            </a:r>
            <a:endParaRPr lang="en-US" sz="2300" dirty="0"/>
          </a:p>
        </p:txBody>
      </p:sp>
      <p:sp>
        <p:nvSpPr>
          <p:cNvPr id="14" name="Text 12"/>
          <p:cNvSpPr/>
          <p:nvPr/>
        </p:nvSpPr>
        <p:spPr>
          <a:xfrm>
            <a:off x="1142524" y="5592604"/>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Destroyed infrastructure creates unpredictable obstacles requiring adaptive pathfinding and real-time decision-making capabilities.</a:t>
            </a:r>
            <a:endParaRPr lang="en-US" sz="1750" dirty="0"/>
          </a:p>
        </p:txBody>
      </p:sp>
      <p:sp>
        <p:nvSpPr>
          <p:cNvPr id="15" name="Shape 13"/>
          <p:cNvSpPr/>
          <p:nvPr/>
        </p:nvSpPr>
        <p:spPr>
          <a:xfrm>
            <a:off x="7428548" y="4827151"/>
            <a:ext cx="6408063" cy="2111454"/>
          </a:xfrm>
          <a:prstGeom prst="roundRect">
            <a:avLst>
              <a:gd name="adj" fmla="val 6929"/>
            </a:avLst>
          </a:prstGeom>
          <a:solidFill>
            <a:srgbClr val="FFFFFF"/>
          </a:solidFill>
          <a:ln w="30480">
            <a:solidFill>
              <a:srgbClr val="E04F00"/>
            </a:solidFill>
            <a:prstDash val="solid"/>
          </a:ln>
        </p:spPr>
      </p:sp>
      <p:sp>
        <p:nvSpPr>
          <p:cNvPr id="16" name="Shape 14"/>
          <p:cNvSpPr/>
          <p:nvPr/>
        </p:nvSpPr>
        <p:spPr>
          <a:xfrm>
            <a:off x="7398067" y="4827151"/>
            <a:ext cx="121920" cy="2111454"/>
          </a:xfrm>
          <a:prstGeom prst="roundRect">
            <a:avLst>
              <a:gd name="adj" fmla="val 27907"/>
            </a:avLst>
          </a:prstGeom>
          <a:solidFill>
            <a:srgbClr val="E04F00"/>
          </a:solidFill>
          <a:ln/>
        </p:spPr>
      </p:sp>
      <p:sp>
        <p:nvSpPr>
          <p:cNvPr id="17" name="Text 15"/>
          <p:cNvSpPr/>
          <p:nvPr/>
        </p:nvSpPr>
        <p:spPr>
          <a:xfrm>
            <a:off x="7777282" y="5084445"/>
            <a:ext cx="3035498"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Resource Optimization</a:t>
            </a:r>
            <a:endParaRPr lang="en-US" sz="2300" dirty="0"/>
          </a:p>
        </p:txBody>
      </p:sp>
      <p:sp>
        <p:nvSpPr>
          <p:cNvPr id="18" name="Text 16"/>
          <p:cNvSpPr/>
          <p:nvPr/>
        </p:nvSpPr>
        <p:spPr>
          <a:xfrm>
            <a:off x="7777282" y="5592604"/>
            <a:ext cx="5802035"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Limited rescue resources must be deployed strategically across vast disaster areas to maximize victim recovery probability.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69983" y="463987"/>
            <a:ext cx="4219099" cy="527447"/>
          </a:xfrm>
          <a:prstGeom prst="rect">
            <a:avLst/>
          </a:prstGeom>
          <a:noFill/>
          <a:ln/>
        </p:spPr>
        <p:txBody>
          <a:bodyPr wrap="none" lIns="0" tIns="0" rIns="0" bIns="0" rtlCol="0" anchor="t"/>
          <a:lstStyle/>
          <a:p>
            <a:pPr algn="l" indent="0" marL="0">
              <a:lnSpc>
                <a:spcPts val="4150"/>
              </a:lnSpc>
              <a:buNone/>
            </a:pPr>
            <a:r>
              <a:rPr lang="en-US" sz="3300" dirty="0">
                <a:solidFill>
                  <a:srgbClr val="020202"/>
                </a:solidFill>
                <a:latin typeface="PT Serif" pitchFamily="34" charset="0"/>
                <a:ea typeface="PT Serif" pitchFamily="34" charset="-122"/>
                <a:cs typeface="PT Serif" pitchFamily="34" charset="-120"/>
              </a:rPr>
              <a:t>Problem Formulation</a:t>
            </a:r>
            <a:endParaRPr lang="en-US" sz="3300" dirty="0"/>
          </a:p>
        </p:txBody>
      </p:sp>
      <p:sp>
        <p:nvSpPr>
          <p:cNvPr id="3" name="Text 1"/>
          <p:cNvSpPr/>
          <p:nvPr/>
        </p:nvSpPr>
        <p:spPr>
          <a:xfrm>
            <a:off x="1769983" y="1219200"/>
            <a:ext cx="11090434" cy="439341"/>
          </a:xfrm>
          <a:prstGeom prst="rect">
            <a:avLst/>
          </a:prstGeom>
          <a:noFill/>
          <a:ln/>
        </p:spPr>
        <p:txBody>
          <a:bodyPr wrap="square" lIns="0" tIns="0" rIns="0" bIns="0" rtlCol="0" anchor="t"/>
          <a:lstStyle/>
          <a:p>
            <a:pPr algn="l" indent="0" marL="0">
              <a:lnSpc>
                <a:spcPts val="1700"/>
              </a:lnSpc>
              <a:buNone/>
            </a:pPr>
            <a:r>
              <a:rPr lang="en-US" sz="1250" dirty="0">
                <a:solidFill>
                  <a:srgbClr val="383838"/>
                </a:solidFill>
                <a:latin typeface="DM Sans" pitchFamily="34" charset="0"/>
                <a:ea typeface="DM Sans" pitchFamily="34" charset="-122"/>
                <a:cs typeface="DM Sans" pitchFamily="34" charset="-120"/>
              </a:rPr>
              <a:t>The rescue mission is modeled as a search problem with defined states, actions, and goals within a grid-based representation of the disaster environment.</a:t>
            </a:r>
            <a:endParaRPr lang="en-US" sz="1250" dirty="0"/>
          </a:p>
        </p:txBody>
      </p:sp>
      <p:pic>
        <p:nvPicPr>
          <p:cNvPr id="4" name="Image 0" descr="preencoded.png">    </p:cNvPr>
          <p:cNvPicPr>
            <a:picLocks noChangeAspect="1"/>
          </p:cNvPicPr>
          <p:nvPr/>
        </p:nvPicPr>
        <p:blipFill>
          <a:blip r:embed="rId1"/>
          <a:stretch>
            <a:fillRect/>
          </a:stretch>
        </p:blipFill>
        <p:spPr>
          <a:xfrm>
            <a:off x="1769983" y="1786652"/>
            <a:ext cx="11090434" cy="4597956"/>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34293" y="4875791"/>
            <a:ext cx="551949" cy="551948"/>
          </a:xfrm>
          <a:prstGeom prst="rect">
            <a:avLst/>
          </a:prstGeom>
        </p:spPr>
      </p:pic>
      <p:sp>
        <p:nvSpPr>
          <p:cNvPr id="6" name="Text 2"/>
          <p:cNvSpPr/>
          <p:nvPr/>
        </p:nvSpPr>
        <p:spPr>
          <a:xfrm>
            <a:off x="2131024" y="4988768"/>
            <a:ext cx="2607955" cy="325995"/>
          </a:xfrm>
          <a:prstGeom prst="rect">
            <a:avLst/>
          </a:prstGeom>
          <a:noFill/>
          <a:ln/>
        </p:spPr>
        <p:txBody>
          <a:bodyPr wrap="none" lIns="0" tIns="0" rIns="0" bIns="0" rtlCol="0" anchor="t"/>
          <a:lstStyle/>
          <a:p>
            <a:pPr algn="ctr" indent="0" marL="0">
              <a:lnSpc>
                <a:spcPts val="2550"/>
              </a:lnSpc>
              <a:buNone/>
            </a:pPr>
            <a:r>
              <a:rPr lang="en-US" sz="2050" dirty="0">
                <a:solidFill>
                  <a:srgbClr val="383838"/>
                </a:solidFill>
                <a:latin typeface="PT Serif" pitchFamily="34" charset="0"/>
                <a:ea typeface="PT Serif" pitchFamily="34" charset="-122"/>
                <a:cs typeface="PT Serif" pitchFamily="34" charset="-120"/>
              </a:rPr>
              <a:t>Goal State</a:t>
            </a:r>
            <a:endParaRPr lang="en-US" sz="2050" dirty="0"/>
          </a:p>
        </p:txBody>
      </p:sp>
      <p:sp>
        <p:nvSpPr>
          <p:cNvPr id="7" name="Text 3"/>
          <p:cNvSpPr/>
          <p:nvPr/>
        </p:nvSpPr>
        <p:spPr>
          <a:xfrm>
            <a:off x="9792066" y="4988768"/>
            <a:ext cx="2607955" cy="325995"/>
          </a:xfrm>
          <a:prstGeom prst="rect">
            <a:avLst/>
          </a:prstGeom>
          <a:noFill/>
          <a:ln/>
        </p:spPr>
        <p:txBody>
          <a:bodyPr wrap="none" lIns="0" tIns="0" rIns="0" bIns="0" rtlCol="0" anchor="t"/>
          <a:lstStyle/>
          <a:p>
            <a:pPr algn="ctr" indent="0" marL="0">
              <a:lnSpc>
                <a:spcPts val="2550"/>
              </a:lnSpc>
              <a:buNone/>
            </a:pPr>
            <a:r>
              <a:rPr lang="en-US" sz="2050" dirty="0">
                <a:solidFill>
                  <a:srgbClr val="383838"/>
                </a:solidFill>
                <a:latin typeface="PT Serif" pitchFamily="34" charset="0"/>
                <a:ea typeface="PT Serif" pitchFamily="34" charset="-122"/>
                <a:cs typeface="PT Serif" pitchFamily="34" charset="-120"/>
              </a:rPr>
              <a:t>State Expansion</a:t>
            </a:r>
            <a:endParaRPr lang="en-US" sz="20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76887" y="4875791"/>
            <a:ext cx="551948" cy="551948"/>
          </a:xfrm>
          <a:prstGeom prst="rect">
            <a:avLst/>
          </a:prstGeom>
        </p:spPr>
      </p:pic>
      <p:sp>
        <p:nvSpPr>
          <p:cNvPr id="9" name="Text 4"/>
          <p:cNvSpPr/>
          <p:nvPr/>
        </p:nvSpPr>
        <p:spPr>
          <a:xfrm>
            <a:off x="9891417" y="2869286"/>
            <a:ext cx="2607956" cy="325995"/>
          </a:xfrm>
          <a:prstGeom prst="rect">
            <a:avLst/>
          </a:prstGeom>
          <a:noFill/>
          <a:ln/>
        </p:spPr>
        <p:txBody>
          <a:bodyPr wrap="none" lIns="0" tIns="0" rIns="0" bIns="0" rtlCol="0" anchor="t"/>
          <a:lstStyle/>
          <a:p>
            <a:pPr algn="ctr" indent="0" marL="0">
              <a:lnSpc>
                <a:spcPts val="2550"/>
              </a:lnSpc>
              <a:buNone/>
            </a:pPr>
            <a:r>
              <a:rPr lang="en-US" sz="2050" dirty="0">
                <a:solidFill>
                  <a:srgbClr val="383838"/>
                </a:solidFill>
                <a:latin typeface="PT Serif" pitchFamily="34" charset="0"/>
                <a:ea typeface="PT Serif" pitchFamily="34" charset="-122"/>
                <a:cs typeface="PT Serif" pitchFamily="34" charset="-120"/>
              </a:rPr>
              <a:t>Obstacle Blocks</a:t>
            </a:r>
            <a:endParaRPr lang="en-US" sz="20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87926" y="2745270"/>
            <a:ext cx="551949" cy="551948"/>
          </a:xfrm>
          <a:prstGeom prst="rect">
            <a:avLst/>
          </a:prstGeom>
        </p:spPr>
      </p:pic>
      <p:sp>
        <p:nvSpPr>
          <p:cNvPr id="11" name="Text 5"/>
          <p:cNvSpPr/>
          <p:nvPr/>
        </p:nvSpPr>
        <p:spPr>
          <a:xfrm>
            <a:off x="2131024" y="2880325"/>
            <a:ext cx="2607955" cy="325995"/>
          </a:xfrm>
          <a:prstGeom prst="rect">
            <a:avLst/>
          </a:prstGeom>
          <a:noFill/>
          <a:ln/>
        </p:spPr>
        <p:txBody>
          <a:bodyPr wrap="none" lIns="0" tIns="0" rIns="0" bIns="0" rtlCol="0" anchor="t"/>
          <a:lstStyle/>
          <a:p>
            <a:pPr algn="ctr" indent="0" marL="0">
              <a:lnSpc>
                <a:spcPts val="2550"/>
              </a:lnSpc>
              <a:buNone/>
            </a:pPr>
            <a:r>
              <a:rPr lang="en-US" sz="2050" dirty="0">
                <a:solidFill>
                  <a:srgbClr val="383838"/>
                </a:solidFill>
                <a:latin typeface="PT Serif" pitchFamily="34" charset="0"/>
                <a:ea typeface="PT Serif" pitchFamily="34" charset="-122"/>
                <a:cs typeface="PT Serif" pitchFamily="34" charset="-120"/>
              </a:rPr>
              <a:t>Initial State</a:t>
            </a:r>
            <a:endParaRPr lang="en-US" sz="2050"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35327" y="2767348"/>
            <a:ext cx="551949" cy="551948"/>
          </a:xfrm>
          <a:prstGeom prst="rect">
            <a:avLst/>
          </a:prstGeom>
        </p:spPr>
      </p:pic>
      <p:sp>
        <p:nvSpPr>
          <p:cNvPr id="13" name="Text 6"/>
          <p:cNvSpPr/>
          <p:nvPr/>
        </p:nvSpPr>
        <p:spPr>
          <a:xfrm>
            <a:off x="1769983" y="6626543"/>
            <a:ext cx="2109549" cy="263723"/>
          </a:xfrm>
          <a:prstGeom prst="rect">
            <a:avLst/>
          </a:prstGeom>
          <a:noFill/>
          <a:ln/>
        </p:spPr>
        <p:txBody>
          <a:bodyPr wrap="none" lIns="0" tIns="0" rIns="0" bIns="0" rtlCol="0" anchor="t"/>
          <a:lstStyle/>
          <a:p>
            <a:pPr algn="l" indent="0" marL="0">
              <a:lnSpc>
                <a:spcPts val="2050"/>
              </a:lnSpc>
              <a:buNone/>
            </a:pPr>
            <a:r>
              <a:rPr lang="en-US" sz="1650" dirty="0">
                <a:solidFill>
                  <a:srgbClr val="020202"/>
                </a:solidFill>
                <a:latin typeface="PT Serif" pitchFamily="34" charset="0"/>
                <a:ea typeface="PT Serif" pitchFamily="34" charset="-122"/>
                <a:cs typeface="PT Serif" pitchFamily="34" charset="-120"/>
              </a:rPr>
              <a:t>State Space</a:t>
            </a:r>
            <a:endParaRPr lang="en-US" sz="1650" dirty="0"/>
          </a:p>
        </p:txBody>
      </p:sp>
      <p:sp>
        <p:nvSpPr>
          <p:cNvPr id="14" name="Text 7"/>
          <p:cNvSpPr/>
          <p:nvPr/>
        </p:nvSpPr>
        <p:spPr>
          <a:xfrm>
            <a:off x="1769983" y="7004090"/>
            <a:ext cx="3435072" cy="659011"/>
          </a:xfrm>
          <a:prstGeom prst="rect">
            <a:avLst/>
          </a:prstGeom>
          <a:noFill/>
          <a:ln/>
        </p:spPr>
        <p:txBody>
          <a:bodyPr wrap="square" lIns="0" tIns="0" rIns="0" bIns="0" rtlCol="0" anchor="t"/>
          <a:lstStyle/>
          <a:p>
            <a:pPr algn="l" indent="0" marL="0">
              <a:lnSpc>
                <a:spcPts val="1700"/>
              </a:lnSpc>
              <a:buNone/>
            </a:pPr>
            <a:r>
              <a:rPr lang="en-US" sz="1250" dirty="0">
                <a:solidFill>
                  <a:srgbClr val="383838"/>
                </a:solidFill>
                <a:latin typeface="DM Sans" pitchFamily="34" charset="0"/>
                <a:ea typeface="DM Sans" pitchFamily="34" charset="-122"/>
                <a:cs typeface="DM Sans" pitchFamily="34" charset="-120"/>
              </a:rPr>
              <a:t>Grid cells representing drone positions with obstacle markings and victim locations as target states.</a:t>
            </a:r>
            <a:endParaRPr lang="en-US" sz="1250" dirty="0"/>
          </a:p>
        </p:txBody>
      </p:sp>
      <p:sp>
        <p:nvSpPr>
          <p:cNvPr id="15" name="Text 8"/>
          <p:cNvSpPr/>
          <p:nvPr/>
        </p:nvSpPr>
        <p:spPr>
          <a:xfrm>
            <a:off x="5604629" y="6626543"/>
            <a:ext cx="2109549" cy="263723"/>
          </a:xfrm>
          <a:prstGeom prst="rect">
            <a:avLst/>
          </a:prstGeom>
          <a:noFill/>
          <a:ln/>
        </p:spPr>
        <p:txBody>
          <a:bodyPr wrap="none" lIns="0" tIns="0" rIns="0" bIns="0" rtlCol="0" anchor="t"/>
          <a:lstStyle/>
          <a:p>
            <a:pPr algn="l" indent="0" marL="0">
              <a:lnSpc>
                <a:spcPts val="2050"/>
              </a:lnSpc>
              <a:buNone/>
            </a:pPr>
            <a:r>
              <a:rPr lang="en-US" sz="1650" dirty="0">
                <a:solidFill>
                  <a:srgbClr val="020202"/>
                </a:solidFill>
                <a:latin typeface="PT Serif" pitchFamily="34" charset="0"/>
                <a:ea typeface="PT Serif" pitchFamily="34" charset="-122"/>
                <a:cs typeface="PT Serif" pitchFamily="34" charset="-120"/>
              </a:rPr>
              <a:t>Actions</a:t>
            </a:r>
            <a:endParaRPr lang="en-US" sz="1650" dirty="0"/>
          </a:p>
        </p:txBody>
      </p:sp>
      <p:sp>
        <p:nvSpPr>
          <p:cNvPr id="16" name="Text 9"/>
          <p:cNvSpPr/>
          <p:nvPr/>
        </p:nvSpPr>
        <p:spPr>
          <a:xfrm>
            <a:off x="5604629" y="7004090"/>
            <a:ext cx="3435072" cy="659011"/>
          </a:xfrm>
          <a:prstGeom prst="rect">
            <a:avLst/>
          </a:prstGeom>
          <a:noFill/>
          <a:ln/>
        </p:spPr>
        <p:txBody>
          <a:bodyPr wrap="square" lIns="0" tIns="0" rIns="0" bIns="0" rtlCol="0" anchor="t"/>
          <a:lstStyle/>
          <a:p>
            <a:pPr algn="l" indent="0" marL="0">
              <a:lnSpc>
                <a:spcPts val="1700"/>
              </a:lnSpc>
              <a:buNone/>
            </a:pPr>
            <a:r>
              <a:rPr lang="en-US" sz="1250" dirty="0">
                <a:solidFill>
                  <a:srgbClr val="383838"/>
                </a:solidFill>
                <a:latin typeface="DM Sans" pitchFamily="34" charset="0"/>
                <a:ea typeface="DM Sans" pitchFamily="34" charset="-122"/>
                <a:cs typeface="DM Sans" pitchFamily="34" charset="-120"/>
              </a:rPr>
              <a:t>Move in four directions (up, down, left, right) with path cost based on terrain difficulty and distance.</a:t>
            </a:r>
            <a:endParaRPr lang="en-US" sz="1250" dirty="0"/>
          </a:p>
        </p:txBody>
      </p:sp>
      <p:sp>
        <p:nvSpPr>
          <p:cNvPr id="17" name="Text 10"/>
          <p:cNvSpPr/>
          <p:nvPr/>
        </p:nvSpPr>
        <p:spPr>
          <a:xfrm>
            <a:off x="9439275" y="6626543"/>
            <a:ext cx="2109549" cy="263723"/>
          </a:xfrm>
          <a:prstGeom prst="rect">
            <a:avLst/>
          </a:prstGeom>
          <a:noFill/>
          <a:ln/>
        </p:spPr>
        <p:txBody>
          <a:bodyPr wrap="none" lIns="0" tIns="0" rIns="0" bIns="0" rtlCol="0" anchor="t"/>
          <a:lstStyle/>
          <a:p>
            <a:pPr algn="l" indent="0" marL="0">
              <a:lnSpc>
                <a:spcPts val="2050"/>
              </a:lnSpc>
              <a:buNone/>
            </a:pPr>
            <a:r>
              <a:rPr lang="en-US" sz="1650" dirty="0">
                <a:solidFill>
                  <a:srgbClr val="020202"/>
                </a:solidFill>
                <a:latin typeface="PT Serif" pitchFamily="34" charset="0"/>
                <a:ea typeface="PT Serif" pitchFamily="34" charset="-122"/>
                <a:cs typeface="PT Serif" pitchFamily="34" charset="-120"/>
              </a:rPr>
              <a:t>Goal Test</a:t>
            </a:r>
            <a:endParaRPr lang="en-US" sz="1650" dirty="0"/>
          </a:p>
        </p:txBody>
      </p:sp>
      <p:sp>
        <p:nvSpPr>
          <p:cNvPr id="18" name="Text 11"/>
          <p:cNvSpPr/>
          <p:nvPr/>
        </p:nvSpPr>
        <p:spPr>
          <a:xfrm>
            <a:off x="9439275" y="7004090"/>
            <a:ext cx="3435072" cy="659011"/>
          </a:xfrm>
          <a:prstGeom prst="rect">
            <a:avLst/>
          </a:prstGeom>
          <a:noFill/>
          <a:ln/>
        </p:spPr>
        <p:txBody>
          <a:bodyPr wrap="square" lIns="0" tIns="0" rIns="0" bIns="0" rtlCol="0" anchor="t"/>
          <a:lstStyle/>
          <a:p>
            <a:pPr algn="l" indent="0" marL="0">
              <a:lnSpc>
                <a:spcPts val="1700"/>
              </a:lnSpc>
              <a:buNone/>
            </a:pPr>
            <a:r>
              <a:rPr lang="en-US" sz="1250" dirty="0">
                <a:solidFill>
                  <a:srgbClr val="383838"/>
                </a:solidFill>
                <a:latin typeface="DM Sans" pitchFamily="34" charset="0"/>
                <a:ea typeface="DM Sans" pitchFamily="34" charset="-122"/>
                <a:cs typeface="DM Sans" pitchFamily="34" charset="-120"/>
              </a:rPr>
              <a:t>Victim detected at current position with confirmed vital signs through sensor verification.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119432" y="440769"/>
            <a:ext cx="4191714" cy="494109"/>
          </a:xfrm>
          <a:prstGeom prst="rect">
            <a:avLst/>
          </a:prstGeom>
          <a:noFill/>
          <a:ln/>
        </p:spPr>
        <p:txBody>
          <a:bodyPr wrap="none" lIns="0" tIns="0" rIns="0" bIns="0" rtlCol="0" anchor="t"/>
          <a:lstStyle/>
          <a:p>
            <a:pPr algn="l" indent="0" marL="0">
              <a:lnSpc>
                <a:spcPts val="3850"/>
              </a:lnSpc>
              <a:buNone/>
            </a:pPr>
            <a:r>
              <a:rPr lang="en-US" sz="3100" dirty="0">
                <a:solidFill>
                  <a:srgbClr val="020202"/>
                </a:solidFill>
                <a:latin typeface="PT Serif" pitchFamily="34" charset="0"/>
                <a:ea typeface="PT Serif" pitchFamily="34" charset="-122"/>
                <a:cs typeface="PT Serif" pitchFamily="34" charset="-120"/>
              </a:rPr>
              <a:t>Intelligent Agent Model</a:t>
            </a:r>
            <a:endParaRPr lang="en-US" sz="3100" dirty="0"/>
          </a:p>
        </p:txBody>
      </p:sp>
      <p:pic>
        <p:nvPicPr>
          <p:cNvPr id="3" name="Image 0" descr="preencoded.png">    </p:cNvPr>
          <p:cNvPicPr>
            <a:picLocks noChangeAspect="1"/>
          </p:cNvPicPr>
          <p:nvPr/>
        </p:nvPicPr>
        <p:blipFill>
          <a:blip r:embed="rId1"/>
          <a:stretch>
            <a:fillRect/>
          </a:stretch>
        </p:blipFill>
        <p:spPr>
          <a:xfrm>
            <a:off x="2149316" y="1134785"/>
            <a:ext cx="10331648" cy="5132189"/>
          </a:xfrm>
          <a:prstGeom prst="rect">
            <a:avLst/>
          </a:prstGeom>
        </p:spPr>
      </p:pic>
      <p:sp>
        <p:nvSpPr>
          <p:cNvPr id="4" name="Text 1"/>
          <p:cNvSpPr/>
          <p:nvPr/>
        </p:nvSpPr>
        <p:spPr>
          <a:xfrm>
            <a:off x="9772685" y="2574271"/>
            <a:ext cx="2454976" cy="306872"/>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Environment</a:t>
            </a:r>
            <a:endParaRPr lang="en-US" sz="19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55465" y="2452334"/>
            <a:ext cx="519572" cy="519572"/>
          </a:xfrm>
          <a:prstGeom prst="rect">
            <a:avLst/>
          </a:prstGeom>
        </p:spPr>
      </p:pic>
      <p:sp>
        <p:nvSpPr>
          <p:cNvPr id="6" name="Text 2"/>
          <p:cNvSpPr/>
          <p:nvPr/>
        </p:nvSpPr>
        <p:spPr>
          <a:xfrm>
            <a:off x="9772685" y="4507240"/>
            <a:ext cx="2454976" cy="306872"/>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Actuators</a:t>
            </a:r>
            <a:endParaRPr lang="en-US" sz="19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55465" y="4385303"/>
            <a:ext cx="519572" cy="519571"/>
          </a:xfrm>
          <a:prstGeom prst="rect">
            <a:avLst/>
          </a:prstGeom>
        </p:spPr>
      </p:pic>
      <p:sp>
        <p:nvSpPr>
          <p:cNvPr id="8" name="Text 3"/>
          <p:cNvSpPr/>
          <p:nvPr/>
        </p:nvSpPr>
        <p:spPr>
          <a:xfrm>
            <a:off x="2402560" y="4507240"/>
            <a:ext cx="2454976" cy="306872"/>
          </a:xfrm>
          <a:prstGeom prst="rect">
            <a:avLst/>
          </a:prstGeom>
          <a:noFill/>
          <a:ln/>
        </p:spPr>
        <p:txBody>
          <a:bodyPr wrap="none" lIns="0" tIns="0" rIns="0" bIns="0" rtlCol="0" anchor="t"/>
          <a:lstStyle/>
          <a:p>
            <a:pPr algn="r" indent="0" marL="0">
              <a:lnSpc>
                <a:spcPts val="2400"/>
              </a:lnSpc>
              <a:buNone/>
            </a:pPr>
            <a:r>
              <a:rPr lang="en-US" sz="1900" dirty="0">
                <a:solidFill>
                  <a:srgbClr val="383838"/>
                </a:solidFill>
                <a:latin typeface="PT Serif" pitchFamily="34" charset="0"/>
                <a:ea typeface="PT Serif" pitchFamily="34" charset="-122"/>
                <a:cs typeface="PT Serif" pitchFamily="34" charset="-120"/>
              </a:rPr>
              <a:t>Processing</a:t>
            </a:r>
            <a:endParaRPr lang="en-US" sz="19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01876" y="4510000"/>
            <a:ext cx="519572" cy="519572"/>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2850" y="2577194"/>
            <a:ext cx="519572" cy="519572"/>
          </a:xfrm>
          <a:prstGeom prst="rect">
            <a:avLst/>
          </a:prstGeom>
        </p:spPr>
      </p:pic>
      <p:sp>
        <p:nvSpPr>
          <p:cNvPr id="11" name="Text 4"/>
          <p:cNvSpPr/>
          <p:nvPr/>
        </p:nvSpPr>
        <p:spPr>
          <a:xfrm>
            <a:off x="2406132" y="2569238"/>
            <a:ext cx="2452378" cy="306872"/>
          </a:xfrm>
          <a:prstGeom prst="rect">
            <a:avLst/>
          </a:prstGeom>
          <a:noFill/>
          <a:ln/>
        </p:spPr>
        <p:txBody>
          <a:bodyPr wrap="none" lIns="0" tIns="0" rIns="0" bIns="0" rtlCol="0" anchor="t"/>
          <a:lstStyle/>
          <a:p>
            <a:pPr algn="r" indent="0" marL="0">
              <a:lnSpc>
                <a:spcPts val="2400"/>
              </a:lnSpc>
              <a:buNone/>
            </a:pPr>
            <a:r>
              <a:rPr lang="en-US" sz="1900" dirty="0">
                <a:solidFill>
                  <a:srgbClr val="383838"/>
                </a:solidFill>
                <a:latin typeface="PT Serif" pitchFamily="34" charset="0"/>
                <a:ea typeface="PT Serif" pitchFamily="34" charset="-122"/>
                <a:cs typeface="PT Serif" pitchFamily="34" charset="-120"/>
              </a:rPr>
              <a:t>Sensors</a:t>
            </a:r>
            <a:endParaRPr lang="en-US" sz="190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19432" y="6379369"/>
            <a:ext cx="376476" cy="376476"/>
          </a:xfrm>
          <a:prstGeom prst="rect">
            <a:avLst/>
          </a:prstGeom>
        </p:spPr>
      </p:pic>
      <p:sp>
        <p:nvSpPr>
          <p:cNvPr id="13" name="Text 5"/>
          <p:cNvSpPr/>
          <p:nvPr/>
        </p:nvSpPr>
        <p:spPr>
          <a:xfrm>
            <a:off x="2119432" y="6880741"/>
            <a:ext cx="1976557" cy="247055"/>
          </a:xfrm>
          <a:prstGeom prst="rect">
            <a:avLst/>
          </a:prstGeom>
          <a:noFill/>
          <a:ln/>
        </p:spPr>
        <p:txBody>
          <a:bodyPr wrap="none" lIns="0" tIns="0" rIns="0" bIns="0" rtlCol="0" anchor="t"/>
          <a:lstStyle/>
          <a:p>
            <a:pPr algn="l" indent="0" marL="0">
              <a:lnSpc>
                <a:spcPts val="1900"/>
              </a:lnSpc>
              <a:buNone/>
            </a:pPr>
            <a:r>
              <a:rPr lang="en-US" sz="1550" dirty="0">
                <a:solidFill>
                  <a:srgbClr val="383838"/>
                </a:solidFill>
                <a:latin typeface="PT Serif" pitchFamily="34" charset="0"/>
                <a:ea typeface="PT Serif" pitchFamily="34" charset="-122"/>
                <a:cs typeface="PT Serif" pitchFamily="34" charset="-120"/>
              </a:rPr>
              <a:t>Visual Sensors</a:t>
            </a:r>
            <a:endParaRPr lang="en-US" sz="1550" dirty="0"/>
          </a:p>
        </p:txBody>
      </p:sp>
      <p:sp>
        <p:nvSpPr>
          <p:cNvPr id="14" name="Text 6"/>
          <p:cNvSpPr/>
          <p:nvPr/>
        </p:nvSpPr>
        <p:spPr>
          <a:xfrm>
            <a:off x="2119432" y="7187684"/>
            <a:ext cx="3380542" cy="601147"/>
          </a:xfrm>
          <a:prstGeom prst="rect">
            <a:avLst/>
          </a:prstGeom>
          <a:noFill/>
          <a:ln/>
        </p:spPr>
        <p:txBody>
          <a:bodyPr wrap="square" lIns="0" tIns="0" rIns="0" bIns="0" rtlCol="0" anchor="t"/>
          <a:lstStyle/>
          <a:p>
            <a:pPr algn="l" indent="0" marL="0">
              <a:lnSpc>
                <a:spcPts val="1550"/>
              </a:lnSpc>
              <a:buNone/>
            </a:pPr>
            <a:r>
              <a:rPr lang="en-US" sz="1150" dirty="0">
                <a:solidFill>
                  <a:srgbClr val="383838"/>
                </a:solidFill>
                <a:latin typeface="DM Sans" pitchFamily="34" charset="0"/>
                <a:ea typeface="DM Sans" pitchFamily="34" charset="-122"/>
                <a:cs typeface="DM Sans" pitchFamily="34" charset="-120"/>
              </a:rPr>
              <a:t>Camera and thermal imaging detect heat signatures and visual markers to identify survivors in rubble and debris.</a:t>
            </a:r>
            <a:endParaRPr lang="en-US" sz="1150" dirty="0"/>
          </a:p>
        </p:txBody>
      </p:sp>
      <p:pic>
        <p:nvPicPr>
          <p:cNvPr id="15"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624870" y="6379369"/>
            <a:ext cx="376476" cy="376476"/>
          </a:xfrm>
          <a:prstGeom prst="rect">
            <a:avLst/>
          </a:prstGeom>
        </p:spPr>
      </p:pic>
      <p:sp>
        <p:nvSpPr>
          <p:cNvPr id="16" name="Text 7"/>
          <p:cNvSpPr/>
          <p:nvPr/>
        </p:nvSpPr>
        <p:spPr>
          <a:xfrm>
            <a:off x="5624870" y="6880741"/>
            <a:ext cx="1976557" cy="247055"/>
          </a:xfrm>
          <a:prstGeom prst="rect">
            <a:avLst/>
          </a:prstGeom>
          <a:noFill/>
          <a:ln/>
        </p:spPr>
        <p:txBody>
          <a:bodyPr wrap="none" lIns="0" tIns="0" rIns="0" bIns="0" rtlCol="0" anchor="t"/>
          <a:lstStyle/>
          <a:p>
            <a:pPr algn="l" indent="0" marL="0">
              <a:lnSpc>
                <a:spcPts val="1900"/>
              </a:lnSpc>
              <a:buNone/>
            </a:pPr>
            <a:r>
              <a:rPr lang="en-US" sz="1550" dirty="0">
                <a:solidFill>
                  <a:srgbClr val="383838"/>
                </a:solidFill>
                <a:latin typeface="PT Serif" pitchFamily="34" charset="0"/>
                <a:ea typeface="PT Serif" pitchFamily="34" charset="-122"/>
                <a:cs typeface="PT Serif" pitchFamily="34" charset="-120"/>
              </a:rPr>
              <a:t>Positioning Systems</a:t>
            </a:r>
            <a:endParaRPr lang="en-US" sz="1550" dirty="0"/>
          </a:p>
        </p:txBody>
      </p:sp>
      <p:sp>
        <p:nvSpPr>
          <p:cNvPr id="17" name="Text 8"/>
          <p:cNvSpPr/>
          <p:nvPr/>
        </p:nvSpPr>
        <p:spPr>
          <a:xfrm>
            <a:off x="5624870" y="7187684"/>
            <a:ext cx="3380542" cy="601147"/>
          </a:xfrm>
          <a:prstGeom prst="rect">
            <a:avLst/>
          </a:prstGeom>
          <a:noFill/>
          <a:ln/>
        </p:spPr>
        <p:txBody>
          <a:bodyPr wrap="square" lIns="0" tIns="0" rIns="0" bIns="0" rtlCol="0" anchor="t"/>
          <a:lstStyle/>
          <a:p>
            <a:pPr algn="l" indent="0" marL="0">
              <a:lnSpc>
                <a:spcPts val="1550"/>
              </a:lnSpc>
              <a:buNone/>
            </a:pPr>
            <a:r>
              <a:rPr lang="en-US" sz="1150" dirty="0">
                <a:solidFill>
                  <a:srgbClr val="383838"/>
                </a:solidFill>
                <a:latin typeface="DM Sans" pitchFamily="34" charset="0"/>
                <a:ea typeface="DM Sans" pitchFamily="34" charset="-122"/>
                <a:cs typeface="DM Sans" pitchFamily="34" charset="-120"/>
              </a:rPr>
              <a:t>GPS and obstacle detection sensors provide real-time location tracking and collision avoidance capabilities.</a:t>
            </a:r>
            <a:endParaRPr lang="en-US" sz="1150" dirty="0"/>
          </a:p>
        </p:txBody>
      </p:sp>
      <p:pic>
        <p:nvPicPr>
          <p:cNvPr id="18"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130308" y="6379369"/>
            <a:ext cx="376476" cy="376476"/>
          </a:xfrm>
          <a:prstGeom prst="rect">
            <a:avLst/>
          </a:prstGeom>
        </p:spPr>
      </p:pic>
      <p:sp>
        <p:nvSpPr>
          <p:cNvPr id="19" name="Text 9"/>
          <p:cNvSpPr/>
          <p:nvPr/>
        </p:nvSpPr>
        <p:spPr>
          <a:xfrm>
            <a:off x="9130308" y="6880741"/>
            <a:ext cx="1976557" cy="247055"/>
          </a:xfrm>
          <a:prstGeom prst="rect">
            <a:avLst/>
          </a:prstGeom>
          <a:noFill/>
          <a:ln/>
        </p:spPr>
        <p:txBody>
          <a:bodyPr wrap="none" lIns="0" tIns="0" rIns="0" bIns="0" rtlCol="0" anchor="t"/>
          <a:lstStyle/>
          <a:p>
            <a:pPr algn="l" indent="0" marL="0">
              <a:lnSpc>
                <a:spcPts val="1900"/>
              </a:lnSpc>
              <a:buNone/>
            </a:pPr>
            <a:r>
              <a:rPr lang="en-US" sz="1550" dirty="0">
                <a:solidFill>
                  <a:srgbClr val="383838"/>
                </a:solidFill>
                <a:latin typeface="PT Serif" pitchFamily="34" charset="0"/>
                <a:ea typeface="PT Serif" pitchFamily="34" charset="-122"/>
                <a:cs typeface="PT Serif" pitchFamily="34" charset="-120"/>
              </a:rPr>
              <a:t>Goal Recognition</a:t>
            </a:r>
            <a:endParaRPr lang="en-US" sz="1550" dirty="0"/>
          </a:p>
        </p:txBody>
      </p:sp>
      <p:sp>
        <p:nvSpPr>
          <p:cNvPr id="20" name="Text 10"/>
          <p:cNvSpPr/>
          <p:nvPr/>
        </p:nvSpPr>
        <p:spPr>
          <a:xfrm>
            <a:off x="9130308" y="7187684"/>
            <a:ext cx="3380661" cy="601147"/>
          </a:xfrm>
          <a:prstGeom prst="rect">
            <a:avLst/>
          </a:prstGeom>
          <a:noFill/>
          <a:ln/>
        </p:spPr>
        <p:txBody>
          <a:bodyPr wrap="square" lIns="0" tIns="0" rIns="0" bIns="0" rtlCol="0" anchor="t"/>
          <a:lstStyle/>
          <a:p>
            <a:pPr algn="l" indent="0" marL="0">
              <a:lnSpc>
                <a:spcPts val="1550"/>
              </a:lnSpc>
              <a:buNone/>
            </a:pPr>
            <a:r>
              <a:rPr lang="en-US" sz="1150" dirty="0">
                <a:solidFill>
                  <a:srgbClr val="383838"/>
                </a:solidFill>
                <a:latin typeface="DM Sans" pitchFamily="34" charset="0"/>
                <a:ea typeface="DM Sans" pitchFamily="34" charset="-122"/>
                <a:cs typeface="DM Sans" pitchFamily="34" charset="-120"/>
              </a:rPr>
              <a:t>Image processing algorithms analyze sensor data to distinguish victims from environmental objects and debris.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8066" y="864751"/>
            <a:ext cx="5385673" cy="673060"/>
          </a:xfrm>
          <a:prstGeom prst="rect">
            <a:avLst/>
          </a:prstGeom>
          <a:noFill/>
          <a:ln/>
        </p:spPr>
        <p:txBody>
          <a:bodyPr wrap="none" lIns="0" tIns="0" rIns="0" bIns="0" rtlCol="0" anchor="t"/>
          <a:lstStyle/>
          <a:p>
            <a:pPr algn="l" indent="0" marL="0">
              <a:lnSpc>
                <a:spcPts val="5300"/>
              </a:lnSpc>
              <a:buNone/>
            </a:pPr>
            <a:r>
              <a:rPr lang="en-US" sz="4200" dirty="0">
                <a:solidFill>
                  <a:srgbClr val="020202"/>
                </a:solidFill>
                <a:latin typeface="PT Serif" pitchFamily="34" charset="0"/>
                <a:ea typeface="PT Serif" pitchFamily="34" charset="-122"/>
                <a:cs typeface="PT Serif" pitchFamily="34" charset="-120"/>
              </a:rPr>
              <a:t>Search Algorithms</a:t>
            </a:r>
            <a:endParaRPr lang="en-US" sz="4200" dirty="0"/>
          </a:p>
        </p:txBody>
      </p:sp>
      <p:sp>
        <p:nvSpPr>
          <p:cNvPr id="4" name="Text 1"/>
          <p:cNvSpPr/>
          <p:nvPr/>
        </p:nvSpPr>
        <p:spPr>
          <a:xfrm>
            <a:off x="718066" y="1816179"/>
            <a:ext cx="7707868" cy="625078"/>
          </a:xfrm>
          <a:prstGeom prst="rect">
            <a:avLst/>
          </a:prstGeom>
          <a:noFill/>
          <a:ln/>
        </p:spPr>
        <p:txBody>
          <a:bodyPr wrap="square" lIns="0" tIns="0" rIns="0" bIns="0" rtlCol="0" anchor="t"/>
          <a:lstStyle/>
          <a:p>
            <a:pPr algn="l" indent="0" marL="0">
              <a:lnSpc>
                <a:spcPts val="2450"/>
              </a:lnSpc>
              <a:buNone/>
            </a:pPr>
            <a:r>
              <a:rPr lang="en-US" sz="1600" dirty="0">
                <a:solidFill>
                  <a:srgbClr val="383838"/>
                </a:solidFill>
                <a:latin typeface="DM Sans" pitchFamily="34" charset="0"/>
                <a:ea typeface="DM Sans" pitchFamily="34" charset="-122"/>
                <a:cs typeface="DM Sans" pitchFamily="34" charset="-120"/>
              </a:rPr>
              <a:t>Three pathfinding approaches enable efficient navigation through disaster environments, with A* selected as the optimal solution.</a:t>
            </a:r>
            <a:endParaRPr lang="en-US" sz="1600" dirty="0"/>
          </a:p>
        </p:txBody>
      </p:sp>
      <p:sp>
        <p:nvSpPr>
          <p:cNvPr id="5" name="Shape 2"/>
          <p:cNvSpPr/>
          <p:nvPr/>
        </p:nvSpPr>
        <p:spPr>
          <a:xfrm>
            <a:off x="718066" y="2649974"/>
            <a:ext cx="3761184" cy="2733437"/>
          </a:xfrm>
          <a:prstGeom prst="roundRect">
            <a:avLst>
              <a:gd name="adj" fmla="val 1126"/>
            </a:avLst>
          </a:prstGeom>
          <a:solidFill>
            <a:srgbClr val="E04F00"/>
          </a:solidFill>
          <a:ln/>
        </p:spPr>
      </p:sp>
      <p:sp>
        <p:nvSpPr>
          <p:cNvPr id="6" name="Text 3"/>
          <p:cNvSpPr/>
          <p:nvPr/>
        </p:nvSpPr>
        <p:spPr>
          <a:xfrm>
            <a:off x="923211" y="2855119"/>
            <a:ext cx="3183612" cy="336590"/>
          </a:xfrm>
          <a:prstGeom prst="rect">
            <a:avLst/>
          </a:prstGeom>
          <a:noFill/>
          <a:ln/>
        </p:spPr>
        <p:txBody>
          <a:bodyPr wrap="none" lIns="0" tIns="0" rIns="0" bIns="0" rtlCol="0" anchor="t"/>
          <a:lstStyle/>
          <a:p>
            <a:pPr algn="l" indent="0" marL="0">
              <a:lnSpc>
                <a:spcPts val="2650"/>
              </a:lnSpc>
              <a:buNone/>
            </a:pPr>
            <a:r>
              <a:rPr lang="en-US" sz="2100" dirty="0">
                <a:solidFill>
                  <a:srgbClr val="FFFFFF"/>
                </a:solidFill>
                <a:latin typeface="PT Serif" pitchFamily="34" charset="0"/>
                <a:ea typeface="PT Serif" pitchFamily="34" charset="-122"/>
                <a:cs typeface="PT Serif" pitchFamily="34" charset="-120"/>
              </a:rPr>
              <a:t>Breadth-First Search (BFS)</a:t>
            </a:r>
            <a:endParaRPr lang="en-US" sz="2100" dirty="0"/>
          </a:p>
        </p:txBody>
      </p:sp>
      <p:sp>
        <p:nvSpPr>
          <p:cNvPr id="7" name="Text 4"/>
          <p:cNvSpPr/>
          <p:nvPr/>
        </p:nvSpPr>
        <p:spPr>
          <a:xfrm>
            <a:off x="923211" y="3303032"/>
            <a:ext cx="3350895" cy="1875234"/>
          </a:xfrm>
          <a:prstGeom prst="rect">
            <a:avLst/>
          </a:prstGeom>
          <a:noFill/>
          <a:ln/>
        </p:spPr>
        <p:txBody>
          <a:bodyPr wrap="square" lIns="0" tIns="0" rIns="0" bIns="0" rtlCol="0" anchor="t"/>
          <a:lstStyle/>
          <a:p>
            <a:pPr algn="l" indent="0" marL="0">
              <a:lnSpc>
                <a:spcPts val="2450"/>
              </a:lnSpc>
              <a:buNone/>
            </a:pPr>
            <a:r>
              <a:rPr lang="en-US" sz="1600" dirty="0">
                <a:solidFill>
                  <a:srgbClr val="FFFFFF"/>
                </a:solidFill>
                <a:latin typeface="DM Sans" pitchFamily="34" charset="0"/>
                <a:ea typeface="DM Sans" pitchFamily="34" charset="-122"/>
                <a:cs typeface="DM Sans" pitchFamily="34" charset="-120"/>
              </a:rPr>
              <a:t>Explores all neighboring positions at current depth before proceeding deeper. Guarantees shortest path but requires significant memory for large search spaces.</a:t>
            </a:r>
            <a:endParaRPr lang="en-US" sz="1600" dirty="0"/>
          </a:p>
        </p:txBody>
      </p:sp>
      <p:sp>
        <p:nvSpPr>
          <p:cNvPr id="8" name="Shape 5"/>
          <p:cNvSpPr/>
          <p:nvPr/>
        </p:nvSpPr>
        <p:spPr>
          <a:xfrm>
            <a:off x="4664750" y="2649974"/>
            <a:ext cx="3761184" cy="2733437"/>
          </a:xfrm>
          <a:prstGeom prst="roundRect">
            <a:avLst>
              <a:gd name="adj" fmla="val 1126"/>
            </a:avLst>
          </a:prstGeom>
          <a:solidFill>
            <a:srgbClr val="E04F00"/>
          </a:solidFill>
          <a:ln/>
        </p:spPr>
      </p:sp>
      <p:sp>
        <p:nvSpPr>
          <p:cNvPr id="9" name="Text 6"/>
          <p:cNvSpPr/>
          <p:nvPr/>
        </p:nvSpPr>
        <p:spPr>
          <a:xfrm>
            <a:off x="4869894" y="2855119"/>
            <a:ext cx="2994422" cy="336590"/>
          </a:xfrm>
          <a:prstGeom prst="rect">
            <a:avLst/>
          </a:prstGeom>
          <a:noFill/>
          <a:ln/>
        </p:spPr>
        <p:txBody>
          <a:bodyPr wrap="none" lIns="0" tIns="0" rIns="0" bIns="0" rtlCol="0" anchor="t"/>
          <a:lstStyle/>
          <a:p>
            <a:pPr algn="l" indent="0" marL="0">
              <a:lnSpc>
                <a:spcPts val="2650"/>
              </a:lnSpc>
              <a:buNone/>
            </a:pPr>
            <a:r>
              <a:rPr lang="en-US" sz="2100" dirty="0">
                <a:solidFill>
                  <a:srgbClr val="FFFFFF"/>
                </a:solidFill>
                <a:latin typeface="PT Serif" pitchFamily="34" charset="0"/>
                <a:ea typeface="PT Serif" pitchFamily="34" charset="-122"/>
                <a:cs typeface="PT Serif" pitchFamily="34" charset="-120"/>
              </a:rPr>
              <a:t>Depth-First Search (DFS)</a:t>
            </a:r>
            <a:endParaRPr lang="en-US" sz="2100" dirty="0"/>
          </a:p>
        </p:txBody>
      </p:sp>
      <p:sp>
        <p:nvSpPr>
          <p:cNvPr id="10" name="Text 7"/>
          <p:cNvSpPr/>
          <p:nvPr/>
        </p:nvSpPr>
        <p:spPr>
          <a:xfrm>
            <a:off x="4869894" y="3303032"/>
            <a:ext cx="3350895" cy="1562695"/>
          </a:xfrm>
          <a:prstGeom prst="rect">
            <a:avLst/>
          </a:prstGeom>
          <a:noFill/>
          <a:ln/>
        </p:spPr>
        <p:txBody>
          <a:bodyPr wrap="square" lIns="0" tIns="0" rIns="0" bIns="0" rtlCol="0" anchor="t"/>
          <a:lstStyle/>
          <a:p>
            <a:pPr algn="l" indent="0" marL="0">
              <a:lnSpc>
                <a:spcPts val="2450"/>
              </a:lnSpc>
              <a:buNone/>
            </a:pPr>
            <a:r>
              <a:rPr lang="en-US" sz="1600" dirty="0">
                <a:solidFill>
                  <a:srgbClr val="FFFFFF"/>
                </a:solidFill>
                <a:latin typeface="DM Sans" pitchFamily="34" charset="0"/>
                <a:ea typeface="DM Sans" pitchFamily="34" charset="-122"/>
                <a:cs typeface="DM Sans" pitchFamily="34" charset="-120"/>
              </a:rPr>
              <a:t>Explores as far as possible along each branch before backtracking. Memory-efficient but may find suboptimal paths and miss victims in other branches.</a:t>
            </a:r>
            <a:endParaRPr lang="en-US" sz="1600" dirty="0"/>
          </a:p>
        </p:txBody>
      </p:sp>
      <p:sp>
        <p:nvSpPr>
          <p:cNvPr id="11" name="Shape 8"/>
          <p:cNvSpPr/>
          <p:nvPr/>
        </p:nvSpPr>
        <p:spPr>
          <a:xfrm>
            <a:off x="718066" y="5568910"/>
            <a:ext cx="7707868" cy="1795820"/>
          </a:xfrm>
          <a:prstGeom prst="roundRect">
            <a:avLst>
              <a:gd name="adj" fmla="val 1714"/>
            </a:avLst>
          </a:prstGeom>
          <a:solidFill>
            <a:srgbClr val="E04F00"/>
          </a:solidFill>
          <a:ln/>
        </p:spPr>
      </p:sp>
      <p:sp>
        <p:nvSpPr>
          <p:cNvPr id="12" name="Text 9"/>
          <p:cNvSpPr/>
          <p:nvPr/>
        </p:nvSpPr>
        <p:spPr>
          <a:xfrm>
            <a:off x="923211" y="5774055"/>
            <a:ext cx="2692837" cy="336590"/>
          </a:xfrm>
          <a:prstGeom prst="rect">
            <a:avLst/>
          </a:prstGeom>
          <a:noFill/>
          <a:ln/>
        </p:spPr>
        <p:txBody>
          <a:bodyPr wrap="none" lIns="0" tIns="0" rIns="0" bIns="0" rtlCol="0" anchor="t"/>
          <a:lstStyle/>
          <a:p>
            <a:pPr algn="l" indent="0" marL="0">
              <a:lnSpc>
                <a:spcPts val="2650"/>
              </a:lnSpc>
              <a:buNone/>
            </a:pPr>
            <a:r>
              <a:rPr lang="en-US" sz="2100" dirty="0">
                <a:solidFill>
                  <a:srgbClr val="FFFFFF"/>
                </a:solidFill>
                <a:latin typeface="PT Serif" pitchFamily="34" charset="0"/>
                <a:ea typeface="PT Serif" pitchFamily="34" charset="-122"/>
                <a:cs typeface="PT Serif" pitchFamily="34" charset="-120"/>
              </a:rPr>
              <a:t>A* Search Algorithm</a:t>
            </a:r>
            <a:endParaRPr lang="en-US" sz="2100" dirty="0"/>
          </a:p>
        </p:txBody>
      </p:sp>
      <p:sp>
        <p:nvSpPr>
          <p:cNvPr id="13" name="Text 10"/>
          <p:cNvSpPr/>
          <p:nvPr/>
        </p:nvSpPr>
        <p:spPr>
          <a:xfrm>
            <a:off x="923211" y="6221968"/>
            <a:ext cx="7297579" cy="937617"/>
          </a:xfrm>
          <a:prstGeom prst="rect">
            <a:avLst/>
          </a:prstGeom>
          <a:noFill/>
          <a:ln/>
        </p:spPr>
        <p:txBody>
          <a:bodyPr wrap="square" lIns="0" tIns="0" rIns="0" bIns="0" rtlCol="0" anchor="t"/>
          <a:lstStyle/>
          <a:p>
            <a:pPr algn="l" indent="0" marL="0">
              <a:lnSpc>
                <a:spcPts val="2450"/>
              </a:lnSpc>
              <a:buNone/>
            </a:pPr>
            <a:r>
              <a:rPr lang="en-US" sz="1600" dirty="0">
                <a:solidFill>
                  <a:srgbClr val="FFFFFF"/>
                </a:solidFill>
                <a:latin typeface="DM Sans" pitchFamily="34" charset="0"/>
                <a:ea typeface="DM Sans" pitchFamily="34" charset="-122"/>
                <a:cs typeface="DM Sans" pitchFamily="34" charset="-120"/>
              </a:rPr>
              <a:t>Combines path cost with heuristic estimation to prioritize promising routes. Optimally balances efficiency and accuracy, finding shortest paths while minimizing exploration.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6210"/>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Constraints</a:t>
            </a:r>
            <a:endParaRPr lang="en-US" sz="4650" dirty="0"/>
          </a:p>
        </p:txBody>
      </p:sp>
      <p:sp>
        <p:nvSpPr>
          <p:cNvPr id="3" name="Text 1"/>
          <p:cNvSpPr/>
          <p:nvPr/>
        </p:nvSpPr>
        <p:spPr>
          <a:xfrm>
            <a:off x="793790" y="23040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659142"/>
            <a:ext cx="6407944" cy="30480"/>
          </a:xfrm>
          <a:prstGeom prst="rect">
            <a:avLst/>
          </a:prstGeom>
          <a:solidFill>
            <a:srgbClr val="E04F00"/>
          </a:solidFill>
          <a:ln/>
        </p:spPr>
      </p:sp>
      <p:sp>
        <p:nvSpPr>
          <p:cNvPr id="5" name="Text 3"/>
          <p:cNvSpPr/>
          <p:nvPr/>
        </p:nvSpPr>
        <p:spPr>
          <a:xfrm>
            <a:off x="793790" y="2833449"/>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Obstacle Avoidance</a:t>
            </a:r>
            <a:endParaRPr lang="en-US" sz="2300" dirty="0"/>
          </a:p>
        </p:txBody>
      </p:sp>
      <p:sp>
        <p:nvSpPr>
          <p:cNvPr id="6" name="Text 4"/>
          <p:cNvSpPr/>
          <p:nvPr/>
        </p:nvSpPr>
        <p:spPr>
          <a:xfrm>
            <a:off x="793790" y="3341608"/>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Collapsing structures and debris require dynamic path recalculation and obstacle detection through sensor fusion.</a:t>
            </a:r>
            <a:endParaRPr lang="en-US" sz="1750" dirty="0"/>
          </a:p>
        </p:txBody>
      </p:sp>
      <p:sp>
        <p:nvSpPr>
          <p:cNvPr id="7" name="Text 5"/>
          <p:cNvSpPr/>
          <p:nvPr/>
        </p:nvSpPr>
        <p:spPr>
          <a:xfrm>
            <a:off x="7428548" y="230409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8" name="Shape 6"/>
          <p:cNvSpPr/>
          <p:nvPr/>
        </p:nvSpPr>
        <p:spPr>
          <a:xfrm>
            <a:off x="7428548" y="2659142"/>
            <a:ext cx="6408063" cy="30480"/>
          </a:xfrm>
          <a:prstGeom prst="rect">
            <a:avLst/>
          </a:prstGeom>
          <a:solidFill>
            <a:srgbClr val="E04F00"/>
          </a:solidFill>
          <a:ln/>
        </p:spPr>
      </p:sp>
      <p:sp>
        <p:nvSpPr>
          <p:cNvPr id="9" name="Text 7"/>
          <p:cNvSpPr/>
          <p:nvPr/>
        </p:nvSpPr>
        <p:spPr>
          <a:xfrm>
            <a:off x="7428548" y="2833449"/>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Battery Limitations</a:t>
            </a:r>
            <a:endParaRPr lang="en-US" sz="2300" dirty="0"/>
          </a:p>
        </p:txBody>
      </p:sp>
      <p:sp>
        <p:nvSpPr>
          <p:cNvPr id="10" name="Text 8"/>
          <p:cNvSpPr/>
          <p:nvPr/>
        </p:nvSpPr>
        <p:spPr>
          <a:xfrm>
            <a:off x="7428548" y="3341608"/>
            <a:ext cx="6408063"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Limited flight time constrains search area coverage, necessitating efficient routing and optimal charging station placement.</a:t>
            </a:r>
            <a:endParaRPr lang="en-US" sz="1750" dirty="0"/>
          </a:p>
        </p:txBody>
      </p:sp>
      <p:sp>
        <p:nvSpPr>
          <p:cNvPr id="11" name="Text 9"/>
          <p:cNvSpPr/>
          <p:nvPr/>
        </p:nvSpPr>
        <p:spPr>
          <a:xfrm>
            <a:off x="793790" y="48271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2" name="Shape 10"/>
          <p:cNvSpPr/>
          <p:nvPr/>
        </p:nvSpPr>
        <p:spPr>
          <a:xfrm>
            <a:off x="793790" y="5182195"/>
            <a:ext cx="6407944" cy="30480"/>
          </a:xfrm>
          <a:prstGeom prst="rect">
            <a:avLst/>
          </a:prstGeom>
          <a:solidFill>
            <a:srgbClr val="E04F00"/>
          </a:solidFill>
          <a:ln/>
        </p:spPr>
      </p:sp>
      <p:sp>
        <p:nvSpPr>
          <p:cNvPr id="13" name="Text 11"/>
          <p:cNvSpPr/>
          <p:nvPr/>
        </p:nvSpPr>
        <p:spPr>
          <a:xfrm>
            <a:off x="793790" y="5356503"/>
            <a:ext cx="3020020"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Environmental Factors</a:t>
            </a:r>
            <a:endParaRPr lang="en-US" sz="2300" dirty="0"/>
          </a:p>
        </p:txBody>
      </p:sp>
      <p:sp>
        <p:nvSpPr>
          <p:cNvPr id="14" name="Text 12"/>
          <p:cNvSpPr/>
          <p:nvPr/>
        </p:nvSpPr>
        <p:spPr>
          <a:xfrm>
            <a:off x="793790" y="5864662"/>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Weather conditions, visibility, and structural instability impact sensor reliability and navigation safety protocols.</a:t>
            </a:r>
            <a:endParaRPr lang="en-US" sz="1750" dirty="0"/>
          </a:p>
        </p:txBody>
      </p:sp>
      <p:sp>
        <p:nvSpPr>
          <p:cNvPr id="15" name="Text 13"/>
          <p:cNvSpPr/>
          <p:nvPr/>
        </p:nvSpPr>
        <p:spPr>
          <a:xfrm>
            <a:off x="7428548" y="48271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6" name="Shape 14"/>
          <p:cNvSpPr/>
          <p:nvPr/>
        </p:nvSpPr>
        <p:spPr>
          <a:xfrm>
            <a:off x="7428548" y="5182195"/>
            <a:ext cx="6408063" cy="30480"/>
          </a:xfrm>
          <a:prstGeom prst="rect">
            <a:avLst/>
          </a:prstGeom>
          <a:solidFill>
            <a:srgbClr val="E04F00"/>
          </a:solidFill>
          <a:ln/>
        </p:spPr>
      </p:sp>
      <p:sp>
        <p:nvSpPr>
          <p:cNvPr id="17" name="Text 15"/>
          <p:cNvSpPr/>
          <p:nvPr/>
        </p:nvSpPr>
        <p:spPr>
          <a:xfrm>
            <a:off x="7428548" y="535650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Safety Protocols</a:t>
            </a:r>
            <a:endParaRPr lang="en-US" sz="2300" dirty="0"/>
          </a:p>
        </p:txBody>
      </p:sp>
      <p:sp>
        <p:nvSpPr>
          <p:cNvPr id="18" name="Text 16"/>
          <p:cNvSpPr/>
          <p:nvPr/>
        </p:nvSpPr>
        <p:spPr>
          <a:xfrm>
            <a:off x="7428548" y="5864662"/>
            <a:ext cx="6408063"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Collision avoidance systems and emergency landing procedures ensure autonomous operation without human intervention.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6519" y="711398"/>
            <a:ext cx="5449610" cy="681157"/>
          </a:xfrm>
          <a:prstGeom prst="rect">
            <a:avLst/>
          </a:prstGeom>
          <a:noFill/>
          <a:ln/>
        </p:spPr>
        <p:txBody>
          <a:bodyPr wrap="none" lIns="0" tIns="0" rIns="0" bIns="0" rtlCol="0" anchor="t"/>
          <a:lstStyle/>
          <a:p>
            <a:pPr algn="l" indent="0" marL="0">
              <a:lnSpc>
                <a:spcPts val="5350"/>
              </a:lnSpc>
              <a:buNone/>
            </a:pPr>
            <a:r>
              <a:rPr lang="en-US" sz="4250" dirty="0">
                <a:solidFill>
                  <a:srgbClr val="020202"/>
                </a:solidFill>
                <a:latin typeface="PT Serif" pitchFamily="34" charset="0"/>
                <a:ea typeface="PT Serif" pitchFamily="34" charset="-122"/>
                <a:cs typeface="PT Serif" pitchFamily="34" charset="-120"/>
              </a:rPr>
              <a:t>Technology Stack</a:t>
            </a:r>
            <a:endParaRPr lang="en-US" sz="4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6519" y="1772483"/>
            <a:ext cx="518993" cy="518993"/>
          </a:xfrm>
          <a:prstGeom prst="rect">
            <a:avLst/>
          </a:prstGeom>
        </p:spPr>
      </p:pic>
      <p:sp>
        <p:nvSpPr>
          <p:cNvPr id="4" name="Text 1"/>
          <p:cNvSpPr/>
          <p:nvPr/>
        </p:nvSpPr>
        <p:spPr>
          <a:xfrm>
            <a:off x="726519" y="2528888"/>
            <a:ext cx="2724745" cy="340638"/>
          </a:xfrm>
          <a:prstGeom prst="rect">
            <a:avLst/>
          </a:prstGeom>
          <a:noFill/>
          <a:ln/>
        </p:spPr>
        <p:txBody>
          <a:bodyPr wrap="none" lIns="0" tIns="0" rIns="0" bIns="0" rtlCol="0" anchor="t"/>
          <a:lstStyle/>
          <a:p>
            <a:pPr algn="l" indent="0" marL="0">
              <a:lnSpc>
                <a:spcPts val="2650"/>
              </a:lnSpc>
              <a:buNone/>
            </a:pPr>
            <a:r>
              <a:rPr lang="en-US" sz="2100" dirty="0">
                <a:solidFill>
                  <a:srgbClr val="383838"/>
                </a:solidFill>
                <a:latin typeface="PT Serif" pitchFamily="34" charset="0"/>
                <a:ea typeface="PT Serif" pitchFamily="34" charset="-122"/>
                <a:cs typeface="PT Serif" pitchFamily="34" charset="-120"/>
              </a:rPr>
              <a:t>AI &amp; Algorithms</a:t>
            </a:r>
            <a:endParaRPr lang="en-US" sz="2100" dirty="0"/>
          </a:p>
        </p:txBody>
      </p:sp>
      <p:sp>
        <p:nvSpPr>
          <p:cNvPr id="5" name="Text 2"/>
          <p:cNvSpPr/>
          <p:nvPr/>
        </p:nvSpPr>
        <p:spPr>
          <a:xfrm>
            <a:off x="726519" y="2983468"/>
            <a:ext cx="4234101" cy="1471851"/>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Python programming language</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A* search implementation</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BFS and DFS algorithms</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Heuristic functions</a:t>
            </a:r>
            <a:endParaRPr lang="en-US" sz="1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98031" y="1772483"/>
            <a:ext cx="518993" cy="518993"/>
          </a:xfrm>
          <a:prstGeom prst="rect">
            <a:avLst/>
          </a:prstGeom>
        </p:spPr>
      </p:pic>
      <p:sp>
        <p:nvSpPr>
          <p:cNvPr id="7" name="Text 3"/>
          <p:cNvSpPr/>
          <p:nvPr/>
        </p:nvSpPr>
        <p:spPr>
          <a:xfrm>
            <a:off x="5198031" y="2528888"/>
            <a:ext cx="2724745" cy="340638"/>
          </a:xfrm>
          <a:prstGeom prst="rect">
            <a:avLst/>
          </a:prstGeom>
          <a:noFill/>
          <a:ln/>
        </p:spPr>
        <p:txBody>
          <a:bodyPr wrap="none" lIns="0" tIns="0" rIns="0" bIns="0" rtlCol="0" anchor="t"/>
          <a:lstStyle/>
          <a:p>
            <a:pPr algn="l" indent="0" marL="0">
              <a:lnSpc>
                <a:spcPts val="2650"/>
              </a:lnSpc>
              <a:buNone/>
            </a:pPr>
            <a:r>
              <a:rPr lang="en-US" sz="2100" dirty="0">
                <a:solidFill>
                  <a:srgbClr val="383838"/>
                </a:solidFill>
                <a:latin typeface="PT Serif" pitchFamily="34" charset="0"/>
                <a:ea typeface="PT Serif" pitchFamily="34" charset="-122"/>
                <a:cs typeface="PT Serif" pitchFamily="34" charset="-120"/>
              </a:rPr>
              <a:t>Simulation Backend</a:t>
            </a:r>
            <a:endParaRPr lang="en-US" sz="2100" dirty="0"/>
          </a:p>
        </p:txBody>
      </p:sp>
      <p:sp>
        <p:nvSpPr>
          <p:cNvPr id="8" name="Text 4"/>
          <p:cNvSpPr/>
          <p:nvPr/>
        </p:nvSpPr>
        <p:spPr>
          <a:xfrm>
            <a:off x="5198031" y="2983468"/>
            <a:ext cx="4234220" cy="1471851"/>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Python with NumPy</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OpenCV for image processing</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Flask or FastAPI framework</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Grid-based environment model</a:t>
            </a:r>
            <a:endParaRPr lang="en-US" sz="16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69661" y="1772483"/>
            <a:ext cx="518993" cy="518993"/>
          </a:xfrm>
          <a:prstGeom prst="rect">
            <a:avLst/>
          </a:prstGeom>
        </p:spPr>
      </p:pic>
      <p:sp>
        <p:nvSpPr>
          <p:cNvPr id="10" name="Text 5"/>
          <p:cNvSpPr/>
          <p:nvPr/>
        </p:nvSpPr>
        <p:spPr>
          <a:xfrm>
            <a:off x="9669661" y="2528888"/>
            <a:ext cx="2724745" cy="340638"/>
          </a:xfrm>
          <a:prstGeom prst="rect">
            <a:avLst/>
          </a:prstGeom>
          <a:noFill/>
          <a:ln/>
        </p:spPr>
        <p:txBody>
          <a:bodyPr wrap="none" lIns="0" tIns="0" rIns="0" bIns="0" rtlCol="0" anchor="t"/>
          <a:lstStyle/>
          <a:p>
            <a:pPr algn="l" indent="0" marL="0">
              <a:lnSpc>
                <a:spcPts val="2650"/>
              </a:lnSpc>
              <a:buNone/>
            </a:pPr>
            <a:r>
              <a:rPr lang="en-US" sz="2100" dirty="0">
                <a:solidFill>
                  <a:srgbClr val="383838"/>
                </a:solidFill>
                <a:latin typeface="PT Serif" pitchFamily="34" charset="0"/>
                <a:ea typeface="PT Serif" pitchFamily="34" charset="-122"/>
                <a:cs typeface="PT Serif" pitchFamily="34" charset="-120"/>
              </a:rPr>
              <a:t>Frontend Interface</a:t>
            </a:r>
            <a:endParaRPr lang="en-US" sz="2100" dirty="0"/>
          </a:p>
        </p:txBody>
      </p:sp>
      <p:sp>
        <p:nvSpPr>
          <p:cNvPr id="11" name="Text 6"/>
          <p:cNvSpPr/>
          <p:nvPr/>
        </p:nvSpPr>
        <p:spPr>
          <a:xfrm>
            <a:off x="9669661" y="2983468"/>
            <a:ext cx="4234101" cy="1471851"/>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Streamlit for simple UI</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React for advanced interface</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Real-time visualization</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Control dashboard</a:t>
            </a:r>
            <a:endParaRPr lang="en-US" sz="16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6519" y="4835247"/>
            <a:ext cx="518993" cy="518993"/>
          </a:xfrm>
          <a:prstGeom prst="rect">
            <a:avLst/>
          </a:prstGeom>
        </p:spPr>
      </p:pic>
      <p:sp>
        <p:nvSpPr>
          <p:cNvPr id="13" name="Text 7"/>
          <p:cNvSpPr/>
          <p:nvPr/>
        </p:nvSpPr>
        <p:spPr>
          <a:xfrm>
            <a:off x="726519" y="5591651"/>
            <a:ext cx="2724745" cy="340638"/>
          </a:xfrm>
          <a:prstGeom prst="rect">
            <a:avLst/>
          </a:prstGeom>
          <a:noFill/>
          <a:ln/>
        </p:spPr>
        <p:txBody>
          <a:bodyPr wrap="none" lIns="0" tIns="0" rIns="0" bIns="0" rtlCol="0" anchor="t"/>
          <a:lstStyle/>
          <a:p>
            <a:pPr algn="l" indent="0" marL="0">
              <a:lnSpc>
                <a:spcPts val="2650"/>
              </a:lnSpc>
              <a:buNone/>
            </a:pPr>
            <a:r>
              <a:rPr lang="en-US" sz="2100" dirty="0">
                <a:solidFill>
                  <a:srgbClr val="383838"/>
                </a:solidFill>
                <a:latin typeface="PT Serif" pitchFamily="34" charset="0"/>
                <a:ea typeface="PT Serif" pitchFamily="34" charset="-122"/>
                <a:cs typeface="PT Serif" pitchFamily="34" charset="-120"/>
              </a:rPr>
              <a:t>Data Management</a:t>
            </a:r>
            <a:endParaRPr lang="en-US" sz="2100" dirty="0"/>
          </a:p>
        </p:txBody>
      </p:sp>
      <p:sp>
        <p:nvSpPr>
          <p:cNvPr id="14" name="Text 8"/>
          <p:cNvSpPr/>
          <p:nvPr/>
        </p:nvSpPr>
        <p:spPr>
          <a:xfrm>
            <a:off x="726519" y="6046232"/>
            <a:ext cx="4234101" cy="1471851"/>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SQLite for local storage</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Firebase for cloud sync</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Victim location records</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Path history tracking</a:t>
            </a:r>
            <a:endParaRPr lang="en-US" sz="16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98031" y="4835247"/>
            <a:ext cx="518993" cy="518993"/>
          </a:xfrm>
          <a:prstGeom prst="rect">
            <a:avLst/>
          </a:prstGeom>
        </p:spPr>
      </p:pic>
      <p:sp>
        <p:nvSpPr>
          <p:cNvPr id="16" name="Text 9"/>
          <p:cNvSpPr/>
          <p:nvPr/>
        </p:nvSpPr>
        <p:spPr>
          <a:xfrm>
            <a:off x="5198031" y="5591651"/>
            <a:ext cx="2724745" cy="340638"/>
          </a:xfrm>
          <a:prstGeom prst="rect">
            <a:avLst/>
          </a:prstGeom>
          <a:noFill/>
          <a:ln/>
        </p:spPr>
        <p:txBody>
          <a:bodyPr wrap="none" lIns="0" tIns="0" rIns="0" bIns="0" rtlCol="0" anchor="t"/>
          <a:lstStyle/>
          <a:p>
            <a:pPr algn="l" indent="0" marL="0">
              <a:lnSpc>
                <a:spcPts val="2650"/>
              </a:lnSpc>
              <a:buNone/>
            </a:pPr>
            <a:r>
              <a:rPr lang="en-US" sz="2100" dirty="0">
                <a:solidFill>
                  <a:srgbClr val="383838"/>
                </a:solidFill>
                <a:latin typeface="PT Serif" pitchFamily="34" charset="0"/>
                <a:ea typeface="PT Serif" pitchFamily="34" charset="-122"/>
                <a:cs typeface="PT Serif" pitchFamily="34" charset="-120"/>
              </a:rPr>
              <a:t>Drone Integration</a:t>
            </a:r>
            <a:endParaRPr lang="en-US" sz="2100" dirty="0"/>
          </a:p>
        </p:txBody>
      </p:sp>
      <p:sp>
        <p:nvSpPr>
          <p:cNvPr id="17" name="Text 10"/>
          <p:cNvSpPr/>
          <p:nvPr/>
        </p:nvSpPr>
        <p:spPr>
          <a:xfrm>
            <a:off x="5198031" y="6046232"/>
            <a:ext cx="4234220" cy="1471851"/>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Raspberry Pi controller</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Sensor array modules</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GPS positioning system</a:t>
            </a:r>
            <a:endParaRPr lang="en-US" sz="1600" dirty="0"/>
          </a:p>
          <a:p>
            <a:pPr algn="l" marL="342900" indent="-342900">
              <a:lnSpc>
                <a:spcPts val="2500"/>
              </a:lnSpc>
              <a:buSzPct val="100000"/>
              <a:buChar char="•"/>
            </a:pPr>
            <a:r>
              <a:rPr lang="en-US" sz="1600" dirty="0">
                <a:solidFill>
                  <a:srgbClr val="383838"/>
                </a:solidFill>
                <a:latin typeface="DM Sans" pitchFamily="34" charset="0"/>
                <a:ea typeface="DM Sans" pitchFamily="34" charset="-122"/>
                <a:cs typeface="DM Sans" pitchFamily="34" charset="-120"/>
              </a:rPr>
              <a:t>Wireless communication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66217"/>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Applications</a:t>
            </a:r>
            <a:endParaRPr lang="en-US" sz="4650" dirty="0"/>
          </a:p>
        </p:txBody>
      </p:sp>
      <p:sp>
        <p:nvSpPr>
          <p:cNvPr id="4" name="Shape 1"/>
          <p:cNvSpPr/>
          <p:nvPr/>
        </p:nvSpPr>
        <p:spPr>
          <a:xfrm>
            <a:off x="6280190" y="2250638"/>
            <a:ext cx="3664744" cy="2837259"/>
          </a:xfrm>
          <a:prstGeom prst="roundRect">
            <a:avLst>
              <a:gd name="adj" fmla="val 1199"/>
            </a:avLst>
          </a:prstGeom>
          <a:solidFill>
            <a:srgbClr val="FFFFFF"/>
          </a:solidFill>
          <a:ln w="30480">
            <a:solidFill>
              <a:srgbClr val="D8D4D4"/>
            </a:solidFill>
            <a:prstDash val="solid"/>
          </a:ln>
        </p:spPr>
      </p:sp>
      <p:sp>
        <p:nvSpPr>
          <p:cNvPr id="5" name="Text 2"/>
          <p:cNvSpPr/>
          <p:nvPr/>
        </p:nvSpPr>
        <p:spPr>
          <a:xfrm>
            <a:off x="6537484" y="250793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Earthquake Rescue</a:t>
            </a:r>
            <a:endParaRPr lang="en-US" sz="2300" dirty="0"/>
          </a:p>
        </p:txBody>
      </p:sp>
      <p:sp>
        <p:nvSpPr>
          <p:cNvPr id="6" name="Text 3"/>
          <p:cNvSpPr/>
          <p:nvPr/>
        </p:nvSpPr>
        <p:spPr>
          <a:xfrm>
            <a:off x="6537484" y="3016091"/>
            <a:ext cx="3150156"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Locates survivors trapped under collapsed buildings and infrastructure, navigating through unstable rubble using thermal imaging.</a:t>
            </a:r>
            <a:endParaRPr lang="en-US" sz="1750" dirty="0"/>
          </a:p>
        </p:txBody>
      </p:sp>
      <p:sp>
        <p:nvSpPr>
          <p:cNvPr id="7" name="Shape 4"/>
          <p:cNvSpPr/>
          <p:nvPr/>
        </p:nvSpPr>
        <p:spPr>
          <a:xfrm>
            <a:off x="10171748" y="2250638"/>
            <a:ext cx="3664863" cy="2837259"/>
          </a:xfrm>
          <a:prstGeom prst="roundRect">
            <a:avLst>
              <a:gd name="adj" fmla="val 1199"/>
            </a:avLst>
          </a:prstGeom>
          <a:solidFill>
            <a:srgbClr val="FFFFFF"/>
          </a:solidFill>
          <a:ln w="30480">
            <a:solidFill>
              <a:srgbClr val="D8D4D4"/>
            </a:solidFill>
            <a:prstDash val="solid"/>
          </a:ln>
        </p:spPr>
      </p:sp>
      <p:sp>
        <p:nvSpPr>
          <p:cNvPr id="8" name="Text 5"/>
          <p:cNvSpPr/>
          <p:nvPr/>
        </p:nvSpPr>
        <p:spPr>
          <a:xfrm>
            <a:off x="10429042" y="250793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Flood Operations</a:t>
            </a:r>
            <a:endParaRPr lang="en-US" sz="2300" dirty="0"/>
          </a:p>
        </p:txBody>
      </p:sp>
      <p:sp>
        <p:nvSpPr>
          <p:cNvPr id="9" name="Text 6"/>
          <p:cNvSpPr/>
          <p:nvPr/>
        </p:nvSpPr>
        <p:spPr>
          <a:xfrm>
            <a:off x="10429042" y="3016091"/>
            <a:ext cx="3150275" cy="1814513"/>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Searches flooded areas where ground access is impossible, identifying people stranded on rooftops or isolated locations.</a:t>
            </a:r>
            <a:endParaRPr lang="en-US" sz="1750" dirty="0"/>
          </a:p>
        </p:txBody>
      </p:sp>
      <p:sp>
        <p:nvSpPr>
          <p:cNvPr id="10" name="Shape 7"/>
          <p:cNvSpPr/>
          <p:nvPr/>
        </p:nvSpPr>
        <p:spPr>
          <a:xfrm>
            <a:off x="6280190" y="5314712"/>
            <a:ext cx="7556421" cy="1748552"/>
          </a:xfrm>
          <a:prstGeom prst="roundRect">
            <a:avLst>
              <a:gd name="adj" fmla="val 1946"/>
            </a:avLst>
          </a:prstGeom>
          <a:solidFill>
            <a:srgbClr val="FFFFFF"/>
          </a:solidFill>
          <a:ln w="30480">
            <a:solidFill>
              <a:srgbClr val="D8D4D4"/>
            </a:solidFill>
            <a:prstDash val="solid"/>
          </a:ln>
        </p:spPr>
      </p:sp>
      <p:sp>
        <p:nvSpPr>
          <p:cNvPr id="11" name="Text 8"/>
          <p:cNvSpPr/>
          <p:nvPr/>
        </p:nvSpPr>
        <p:spPr>
          <a:xfrm>
            <a:off x="6537484" y="557200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Forest Search</a:t>
            </a:r>
            <a:endParaRPr lang="en-US" sz="2300" dirty="0"/>
          </a:p>
        </p:txBody>
      </p:sp>
      <p:sp>
        <p:nvSpPr>
          <p:cNvPr id="12" name="Text 9"/>
          <p:cNvSpPr/>
          <p:nvPr/>
        </p:nvSpPr>
        <p:spPr>
          <a:xfrm>
            <a:off x="6537484" y="6080165"/>
            <a:ext cx="7041832"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Covers vast wilderness areas to find missing persons, using pattern recognition to distinguish humans from natural objects.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0690" y="647938"/>
            <a:ext cx="5705832" cy="713184"/>
          </a:xfrm>
          <a:prstGeom prst="rect">
            <a:avLst/>
          </a:prstGeom>
          <a:noFill/>
          <a:ln/>
        </p:spPr>
        <p:txBody>
          <a:bodyPr wrap="none" lIns="0" tIns="0" rIns="0" bIns="0" rtlCol="0" anchor="t"/>
          <a:lstStyle/>
          <a:p>
            <a:pPr algn="l" indent="0" marL="0">
              <a:lnSpc>
                <a:spcPts val="5600"/>
              </a:lnSpc>
              <a:buNone/>
            </a:pPr>
            <a:r>
              <a:rPr lang="en-US" sz="4450" dirty="0">
                <a:solidFill>
                  <a:srgbClr val="020202"/>
                </a:solidFill>
                <a:latin typeface="PT Serif" pitchFamily="34" charset="0"/>
                <a:ea typeface="PT Serif" pitchFamily="34" charset="-122"/>
                <a:cs typeface="PT Serif" pitchFamily="34" charset="-120"/>
              </a:rPr>
              <a:t>Advantages</a:t>
            </a:r>
            <a:endParaRPr lang="en-US" sz="4450" dirty="0"/>
          </a:p>
        </p:txBody>
      </p:sp>
      <p:sp>
        <p:nvSpPr>
          <p:cNvPr id="3" name="Shape 1"/>
          <p:cNvSpPr/>
          <p:nvPr/>
        </p:nvSpPr>
        <p:spPr>
          <a:xfrm>
            <a:off x="760690" y="1777722"/>
            <a:ext cx="6450330" cy="2797850"/>
          </a:xfrm>
          <a:prstGeom prst="roundRect">
            <a:avLst>
              <a:gd name="adj" fmla="val 1165"/>
            </a:avLst>
          </a:prstGeom>
          <a:solidFill>
            <a:srgbClr val="F2EEEE"/>
          </a:solidFill>
          <a:ln/>
        </p:spPr>
      </p:sp>
      <p:sp>
        <p:nvSpPr>
          <p:cNvPr id="4" name="Shape 2"/>
          <p:cNvSpPr/>
          <p:nvPr/>
        </p:nvSpPr>
        <p:spPr>
          <a:xfrm>
            <a:off x="977979" y="1995011"/>
            <a:ext cx="651986" cy="651986"/>
          </a:xfrm>
          <a:prstGeom prst="roundRect">
            <a:avLst>
              <a:gd name="adj" fmla="val 14023439"/>
            </a:avLst>
          </a:prstGeom>
          <a:solidFill>
            <a:srgbClr val="E04F00"/>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7288" y="2174319"/>
            <a:ext cx="293370" cy="293370"/>
          </a:xfrm>
          <a:prstGeom prst="rect">
            <a:avLst/>
          </a:prstGeom>
        </p:spPr>
      </p:pic>
      <p:sp>
        <p:nvSpPr>
          <p:cNvPr id="6" name="Text 3"/>
          <p:cNvSpPr/>
          <p:nvPr/>
        </p:nvSpPr>
        <p:spPr>
          <a:xfrm>
            <a:off x="977979" y="2855238"/>
            <a:ext cx="2852857" cy="356592"/>
          </a:xfrm>
          <a:prstGeom prst="rect">
            <a:avLst/>
          </a:prstGeom>
          <a:noFill/>
          <a:ln/>
        </p:spPr>
        <p:txBody>
          <a:bodyPr wrap="none" lIns="0" tIns="0" rIns="0" bIns="0" rtlCol="0" anchor="t"/>
          <a:lstStyle/>
          <a:p>
            <a:pPr algn="l" indent="0" marL="0">
              <a:lnSpc>
                <a:spcPts val="2800"/>
              </a:lnSpc>
              <a:buNone/>
            </a:pPr>
            <a:r>
              <a:rPr lang="en-US" sz="2200" dirty="0">
                <a:solidFill>
                  <a:srgbClr val="383838"/>
                </a:solidFill>
                <a:latin typeface="PT Serif" pitchFamily="34" charset="0"/>
                <a:ea typeface="PT Serif" pitchFamily="34" charset="-122"/>
                <a:cs typeface="PT Serif" pitchFamily="34" charset="-120"/>
              </a:rPr>
              <a:t>Rapid Response Time</a:t>
            </a:r>
            <a:endParaRPr lang="en-US" sz="2200" dirty="0"/>
          </a:p>
        </p:txBody>
      </p:sp>
      <p:sp>
        <p:nvSpPr>
          <p:cNvPr id="7" name="Text 4"/>
          <p:cNvSpPr/>
          <p:nvPr/>
        </p:nvSpPr>
        <p:spPr>
          <a:xfrm>
            <a:off x="977979" y="3336727"/>
            <a:ext cx="6015752" cy="1021556"/>
          </a:xfrm>
          <a:prstGeom prst="rect">
            <a:avLst/>
          </a:prstGeom>
          <a:noFill/>
          <a:ln/>
        </p:spPr>
        <p:txBody>
          <a:bodyPr wrap="square" lIns="0" tIns="0" rIns="0" bIns="0" rtlCol="0" anchor="t"/>
          <a:lstStyle/>
          <a:p>
            <a:pPr algn="l" indent="0" marL="0">
              <a:lnSpc>
                <a:spcPts val="2650"/>
              </a:lnSpc>
              <a:buNone/>
            </a:pPr>
            <a:r>
              <a:rPr lang="en-US" sz="1700" dirty="0">
                <a:solidFill>
                  <a:srgbClr val="383838"/>
                </a:solidFill>
                <a:latin typeface="DM Sans" pitchFamily="34" charset="0"/>
                <a:ea typeface="DM Sans" pitchFamily="34" charset="-122"/>
                <a:cs typeface="DM Sans" pitchFamily="34" charset="-120"/>
              </a:rPr>
              <a:t>Automated deployment and continuous operation reduce victim location time from hours to minutes, significantly improving survival rates.</a:t>
            </a:r>
            <a:endParaRPr lang="en-US" sz="1700" dirty="0"/>
          </a:p>
        </p:txBody>
      </p:sp>
      <p:sp>
        <p:nvSpPr>
          <p:cNvPr id="8" name="Shape 5"/>
          <p:cNvSpPr/>
          <p:nvPr/>
        </p:nvSpPr>
        <p:spPr>
          <a:xfrm>
            <a:off x="7419261" y="1777722"/>
            <a:ext cx="6450449" cy="2797850"/>
          </a:xfrm>
          <a:prstGeom prst="roundRect">
            <a:avLst>
              <a:gd name="adj" fmla="val 1165"/>
            </a:avLst>
          </a:prstGeom>
          <a:solidFill>
            <a:srgbClr val="F2EEEE"/>
          </a:solidFill>
          <a:ln/>
        </p:spPr>
      </p:sp>
      <p:sp>
        <p:nvSpPr>
          <p:cNvPr id="9" name="Shape 6"/>
          <p:cNvSpPr/>
          <p:nvPr/>
        </p:nvSpPr>
        <p:spPr>
          <a:xfrm>
            <a:off x="7636550" y="1995011"/>
            <a:ext cx="651986" cy="651986"/>
          </a:xfrm>
          <a:prstGeom prst="roundRect">
            <a:avLst>
              <a:gd name="adj" fmla="val 14023439"/>
            </a:avLst>
          </a:prstGeom>
          <a:solidFill>
            <a:srgbClr val="E04F00"/>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15858" y="2174319"/>
            <a:ext cx="293370" cy="293370"/>
          </a:xfrm>
          <a:prstGeom prst="rect">
            <a:avLst/>
          </a:prstGeom>
        </p:spPr>
      </p:pic>
      <p:sp>
        <p:nvSpPr>
          <p:cNvPr id="11" name="Text 7"/>
          <p:cNvSpPr/>
          <p:nvPr/>
        </p:nvSpPr>
        <p:spPr>
          <a:xfrm>
            <a:off x="7636550" y="2855238"/>
            <a:ext cx="2852857" cy="356592"/>
          </a:xfrm>
          <a:prstGeom prst="rect">
            <a:avLst/>
          </a:prstGeom>
          <a:noFill/>
          <a:ln/>
        </p:spPr>
        <p:txBody>
          <a:bodyPr wrap="none" lIns="0" tIns="0" rIns="0" bIns="0" rtlCol="0" anchor="t"/>
          <a:lstStyle/>
          <a:p>
            <a:pPr algn="l" indent="0" marL="0">
              <a:lnSpc>
                <a:spcPts val="2800"/>
              </a:lnSpc>
              <a:buNone/>
            </a:pPr>
            <a:r>
              <a:rPr lang="en-US" sz="2200" dirty="0">
                <a:solidFill>
                  <a:srgbClr val="383838"/>
                </a:solidFill>
                <a:latin typeface="PT Serif" pitchFamily="34" charset="0"/>
                <a:ea typeface="PT Serif" pitchFamily="34" charset="-122"/>
                <a:cs typeface="PT Serif" pitchFamily="34" charset="-120"/>
              </a:rPr>
              <a:t>Enhanced Safety</a:t>
            </a:r>
            <a:endParaRPr lang="en-US" sz="2200" dirty="0"/>
          </a:p>
        </p:txBody>
      </p:sp>
      <p:sp>
        <p:nvSpPr>
          <p:cNvPr id="12" name="Text 8"/>
          <p:cNvSpPr/>
          <p:nvPr/>
        </p:nvSpPr>
        <p:spPr>
          <a:xfrm>
            <a:off x="7636550" y="3336727"/>
            <a:ext cx="6015871" cy="1021556"/>
          </a:xfrm>
          <a:prstGeom prst="rect">
            <a:avLst/>
          </a:prstGeom>
          <a:noFill/>
          <a:ln/>
        </p:spPr>
        <p:txBody>
          <a:bodyPr wrap="square" lIns="0" tIns="0" rIns="0" bIns="0" rtlCol="0" anchor="t"/>
          <a:lstStyle/>
          <a:p>
            <a:pPr algn="l" indent="0" marL="0">
              <a:lnSpc>
                <a:spcPts val="2650"/>
              </a:lnSpc>
              <a:buNone/>
            </a:pPr>
            <a:r>
              <a:rPr lang="en-US" sz="1700" dirty="0">
                <a:solidFill>
                  <a:srgbClr val="383838"/>
                </a:solidFill>
                <a:latin typeface="DM Sans" pitchFamily="34" charset="0"/>
                <a:ea typeface="DM Sans" pitchFamily="34" charset="-122"/>
                <a:cs typeface="DM Sans" pitchFamily="34" charset="-120"/>
              </a:rPr>
              <a:t>Removes human rescuers from dangerous environments, eliminating risks from structural collapse, hazardous materials, and secondary disasters.</a:t>
            </a:r>
            <a:endParaRPr lang="en-US" sz="1700" dirty="0"/>
          </a:p>
        </p:txBody>
      </p:sp>
      <p:sp>
        <p:nvSpPr>
          <p:cNvPr id="13" name="Shape 9"/>
          <p:cNvSpPr/>
          <p:nvPr/>
        </p:nvSpPr>
        <p:spPr>
          <a:xfrm>
            <a:off x="760690" y="4783812"/>
            <a:ext cx="6450330" cy="2797850"/>
          </a:xfrm>
          <a:prstGeom prst="roundRect">
            <a:avLst>
              <a:gd name="adj" fmla="val 1165"/>
            </a:avLst>
          </a:prstGeom>
          <a:solidFill>
            <a:srgbClr val="F2EEEE"/>
          </a:solidFill>
          <a:ln/>
        </p:spPr>
      </p:sp>
      <p:sp>
        <p:nvSpPr>
          <p:cNvPr id="14" name="Shape 10"/>
          <p:cNvSpPr/>
          <p:nvPr/>
        </p:nvSpPr>
        <p:spPr>
          <a:xfrm>
            <a:off x="977979" y="5001101"/>
            <a:ext cx="651986" cy="651986"/>
          </a:xfrm>
          <a:prstGeom prst="roundRect">
            <a:avLst>
              <a:gd name="adj" fmla="val 14023439"/>
            </a:avLst>
          </a:prstGeom>
          <a:solidFill>
            <a:srgbClr val="E04F00"/>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7288" y="5180409"/>
            <a:ext cx="293370" cy="293370"/>
          </a:xfrm>
          <a:prstGeom prst="rect">
            <a:avLst/>
          </a:prstGeom>
        </p:spPr>
      </p:pic>
      <p:sp>
        <p:nvSpPr>
          <p:cNvPr id="16" name="Text 11"/>
          <p:cNvSpPr/>
          <p:nvPr/>
        </p:nvSpPr>
        <p:spPr>
          <a:xfrm>
            <a:off x="977979" y="5861328"/>
            <a:ext cx="2852857" cy="356592"/>
          </a:xfrm>
          <a:prstGeom prst="rect">
            <a:avLst/>
          </a:prstGeom>
          <a:noFill/>
          <a:ln/>
        </p:spPr>
        <p:txBody>
          <a:bodyPr wrap="none" lIns="0" tIns="0" rIns="0" bIns="0" rtlCol="0" anchor="t"/>
          <a:lstStyle/>
          <a:p>
            <a:pPr algn="l" indent="0" marL="0">
              <a:lnSpc>
                <a:spcPts val="2800"/>
              </a:lnSpc>
              <a:buNone/>
            </a:pPr>
            <a:r>
              <a:rPr lang="en-US" sz="2200" dirty="0">
                <a:solidFill>
                  <a:srgbClr val="383838"/>
                </a:solidFill>
                <a:latin typeface="PT Serif" pitchFamily="34" charset="0"/>
                <a:ea typeface="PT Serif" pitchFamily="34" charset="-122"/>
                <a:cs typeface="PT Serif" pitchFamily="34" charset="-120"/>
              </a:rPr>
              <a:t>Systematic Coverage</a:t>
            </a:r>
            <a:endParaRPr lang="en-US" sz="2200" dirty="0"/>
          </a:p>
        </p:txBody>
      </p:sp>
      <p:sp>
        <p:nvSpPr>
          <p:cNvPr id="17" name="Text 12"/>
          <p:cNvSpPr/>
          <p:nvPr/>
        </p:nvSpPr>
        <p:spPr>
          <a:xfrm>
            <a:off x="977979" y="6342817"/>
            <a:ext cx="6015752" cy="1021556"/>
          </a:xfrm>
          <a:prstGeom prst="rect">
            <a:avLst/>
          </a:prstGeom>
          <a:noFill/>
          <a:ln/>
        </p:spPr>
        <p:txBody>
          <a:bodyPr wrap="square" lIns="0" tIns="0" rIns="0" bIns="0" rtlCol="0" anchor="t"/>
          <a:lstStyle/>
          <a:p>
            <a:pPr algn="l" indent="0" marL="0">
              <a:lnSpc>
                <a:spcPts val="2650"/>
              </a:lnSpc>
              <a:buNone/>
            </a:pPr>
            <a:r>
              <a:rPr lang="en-US" sz="1700" dirty="0">
                <a:solidFill>
                  <a:srgbClr val="383838"/>
                </a:solidFill>
                <a:latin typeface="DM Sans" pitchFamily="34" charset="0"/>
                <a:ea typeface="DM Sans" pitchFamily="34" charset="-122"/>
                <a:cs typeface="DM Sans" pitchFamily="34" charset="-120"/>
              </a:rPr>
              <a:t>Algorithmic search patterns ensure complete area coverage without overlap, maximizing efficiency and minimizing missed victims.</a:t>
            </a:r>
            <a:endParaRPr lang="en-US" sz="1700" dirty="0"/>
          </a:p>
        </p:txBody>
      </p:sp>
      <p:sp>
        <p:nvSpPr>
          <p:cNvPr id="18" name="Shape 13"/>
          <p:cNvSpPr/>
          <p:nvPr/>
        </p:nvSpPr>
        <p:spPr>
          <a:xfrm>
            <a:off x="7419261" y="4783812"/>
            <a:ext cx="6450449" cy="2797850"/>
          </a:xfrm>
          <a:prstGeom prst="roundRect">
            <a:avLst>
              <a:gd name="adj" fmla="val 1165"/>
            </a:avLst>
          </a:prstGeom>
          <a:solidFill>
            <a:srgbClr val="F2EEEE"/>
          </a:solidFill>
          <a:ln/>
        </p:spPr>
      </p:sp>
      <p:sp>
        <p:nvSpPr>
          <p:cNvPr id="19" name="Shape 14"/>
          <p:cNvSpPr/>
          <p:nvPr/>
        </p:nvSpPr>
        <p:spPr>
          <a:xfrm>
            <a:off x="7636550" y="5001101"/>
            <a:ext cx="651986" cy="651986"/>
          </a:xfrm>
          <a:prstGeom prst="roundRect">
            <a:avLst>
              <a:gd name="adj" fmla="val 14023439"/>
            </a:avLst>
          </a:prstGeom>
          <a:solidFill>
            <a:srgbClr val="E04F0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15858" y="5180409"/>
            <a:ext cx="293370" cy="293370"/>
          </a:xfrm>
          <a:prstGeom prst="rect">
            <a:avLst/>
          </a:prstGeom>
        </p:spPr>
      </p:pic>
      <p:sp>
        <p:nvSpPr>
          <p:cNvPr id="21" name="Text 15"/>
          <p:cNvSpPr/>
          <p:nvPr/>
        </p:nvSpPr>
        <p:spPr>
          <a:xfrm>
            <a:off x="7636550" y="5861328"/>
            <a:ext cx="2852857" cy="356592"/>
          </a:xfrm>
          <a:prstGeom prst="rect">
            <a:avLst/>
          </a:prstGeom>
          <a:noFill/>
          <a:ln/>
        </p:spPr>
        <p:txBody>
          <a:bodyPr wrap="none" lIns="0" tIns="0" rIns="0" bIns="0" rtlCol="0" anchor="t"/>
          <a:lstStyle/>
          <a:p>
            <a:pPr algn="l" indent="0" marL="0">
              <a:lnSpc>
                <a:spcPts val="2800"/>
              </a:lnSpc>
              <a:buNone/>
            </a:pPr>
            <a:r>
              <a:rPr lang="en-US" sz="2200" dirty="0">
                <a:solidFill>
                  <a:srgbClr val="383838"/>
                </a:solidFill>
                <a:latin typeface="PT Serif" pitchFamily="34" charset="0"/>
                <a:ea typeface="PT Serif" pitchFamily="34" charset="-122"/>
                <a:cs typeface="PT Serif" pitchFamily="34" charset="-120"/>
              </a:rPr>
              <a:t>Extended Operation</a:t>
            </a:r>
            <a:endParaRPr lang="en-US" sz="2200" dirty="0"/>
          </a:p>
        </p:txBody>
      </p:sp>
      <p:sp>
        <p:nvSpPr>
          <p:cNvPr id="22" name="Text 16"/>
          <p:cNvSpPr/>
          <p:nvPr/>
        </p:nvSpPr>
        <p:spPr>
          <a:xfrm>
            <a:off x="7636550" y="6342817"/>
            <a:ext cx="6015871" cy="1021556"/>
          </a:xfrm>
          <a:prstGeom prst="rect">
            <a:avLst/>
          </a:prstGeom>
          <a:noFill/>
          <a:ln/>
        </p:spPr>
        <p:txBody>
          <a:bodyPr wrap="square" lIns="0" tIns="0" rIns="0" bIns="0" rtlCol="0" anchor="t"/>
          <a:lstStyle/>
          <a:p>
            <a:pPr algn="l" indent="0" marL="0">
              <a:lnSpc>
                <a:spcPts val="2650"/>
              </a:lnSpc>
              <a:buNone/>
            </a:pPr>
            <a:r>
              <a:rPr lang="en-US" sz="1700" dirty="0">
                <a:solidFill>
                  <a:srgbClr val="383838"/>
                </a:solidFill>
                <a:latin typeface="DM Sans" pitchFamily="34" charset="0"/>
                <a:ea typeface="DM Sans" pitchFamily="34" charset="-122"/>
                <a:cs typeface="DM Sans" pitchFamily="34" charset="-120"/>
              </a:rPr>
              <a:t>Multiple drones operating in shifts with autonomous recharging enable 24/7 search operations until all victims are located.</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662476"/>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Thank You</a:t>
            </a:r>
            <a:endParaRPr lang="en-US" sz="4650" dirty="0"/>
          </a:p>
        </p:txBody>
      </p:sp>
      <p:sp>
        <p:nvSpPr>
          <p:cNvPr id="3" name="Text 1"/>
          <p:cNvSpPr/>
          <p:nvPr/>
        </p:nvSpPr>
        <p:spPr>
          <a:xfrm>
            <a:off x="793790" y="3860363"/>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Bhoomika Poddar</a:t>
            </a:r>
            <a:endParaRPr lang="en-US" sz="1750" dirty="0"/>
          </a:p>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Farzan Alam</a:t>
            </a:r>
            <a:endParaRPr lang="en-US" sz="1750" dirty="0"/>
          </a:p>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Akshit Gaurana</a:t>
            </a:r>
            <a:endParaRPr lang="en-US" sz="1750" dirty="0"/>
          </a:p>
        </p:txBody>
      </p:sp>
      <p:sp>
        <p:nvSpPr>
          <p:cNvPr id="4" name="Text 2"/>
          <p:cNvSpPr/>
          <p:nvPr/>
        </p:nvSpPr>
        <p:spPr>
          <a:xfrm>
            <a:off x="793790" y="520422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Questions?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2026-03-17T05:10:13Z</dcterms:created>
  <dcterms:modified xsi:type="dcterms:W3CDTF">2026-03-17T05:10:13Z</dcterms:modified>
</cp:coreProperties>
</file>